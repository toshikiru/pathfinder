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9fcc1ed-ed35-8a17-8e8c-b2d75add1ca7}">
          <p14:sldIdLst>
            <p14:sldId id="256"/>
            <p14:sldId id="257"/>
            <p14:sldId id="258"/>
            <p14:sldId id="259"/>
          </p14:sldIdLst>
        </p14:section>
        <p14:section name="Retrieval &amp; Design" id="{6b414200-e8ce-6564-1235-3f900e43689f}">
          <p14:sldIdLst>
            <p14:sldId id="260"/>
            <p14:sldId id="261"/>
            <p14:sldId id="262"/>
            <p14:sldId id="263"/>
          </p14:sldIdLst>
        </p14:section>
        <p14:section name="Deployment &amp; Results" id="{f03e26b1-1351-cfc5-b017-b429ae443f9d}">
          <p14:sldIdLst>
            <p14:sldId id="264"/>
            <p14:sldId id="265"/>
            <p14:sldId id="266"/>
          </p14:sldIdLst>
        </p14:section>
        <p14:section name="Demo" id="{1126506f-beb2-0af0-b512-5da68ae1c2c8}">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0:30
Good day, Sir. We are [Name 1], [Name 2], and [Name 3], and this is our mini capstone for IS Professional Elective 4, Generative AI Systems. Our project is called Pathfinder, a RAG-based academic advisor for course planning, built for BSIS students of Talibon Polytechnic College. In the next few minutes we will explain the problem, how the system is built, how we deployed it, and then we will finish with a live demo. I will start with the problem and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1:30
A BSIS student who wants to plan the next semester usually has a printed curriculum checklist and a lot of questions. What are the prerequisites for IS 104? How many units can I take if I am on probation? What GWA do I need for Latin honors? The answers are spread across the checklist, the handbook, and the website, and the people who know them, the Program Head and the Registrar, are only available during office hours.
So our goal was a chatbot that gives instant answers grounded in TPC's own documents, always tells you which document the answer came from, and, just as important, says "I don't have that information"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1:15
This diagram is the whole system. The top row happens once, when we build the project: we collect our sources, clean and chunk them, turn every chunk into an embedding, and store them in a Chroma vector index, which we bake into the Docker image.
The bottom row happens on every question. The student asks in the Streamlit app. If it is a follow-up, we rewrite it using the chat history. We retrieve the four most relevant chunks, and Gemini writes the answer using only those chunks, following our prompt rules, and cites the source document.
First, let me explain how we prepared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about 1:45
Our knowledge base has 23 documents, which become 105 chunks. Eighteen are real: ten pages we scraped from the TPC website, and eight files we transcribed from the official BSIS curriculum checklist. Five are simulated, the course descriptions and two policy documents, because the student handbook is not public. We label them as simulated in the files and in the app.
We built the pipeline in four steps. Extraction: our first regex tag-stripper leaked JavaScript into the text, so we switched to BeautifulSoup. Cleaning: we removed repeated menus and footers, which cut the text by about 28 percent. Chunking: we split by sentence, up to 500 characters, never in the middle of a sentence, because our first chunker separated "Latin honors" from its 1.75 requirement. Metadata: every chunk keeps its source file and category, and curriculum chunks keep their year and semester.
Now [Name 2] will explain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1:45
Thank you, [Name 1]. For retrieval we use all-MiniLM-L6-v2, a small open-source embedding model that runs locally and turns every chunk into a vector of 384 numbers. The vectors go into Chroma, and each question retrieves the top four most similar chunks.
We tested three distance metrics, cosine, Euclidean, and dot product, on our own chunks, and the top three results were identical every time. That is not a coincidence: MiniLM outputs unit-length vectors, and for unit vectors, Euclidean distance squared equals two minus two times cosine, and the dot product equals cosine. We kept cosine because it is the metric the model was trained for, so nothing breaks if we ever swap models.
For the framework we chose LangChain because it plugs into the index we had already built, while LlamaIndex wanted to re-ingest everything. Accuracy was the same, so it was an architecture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1:30
Two techniques make retrieval smarter. The first is conversation memory. If a student asks "How many units is it?", the word "it" means nothing to a vector search. So before retrieving, we make one LLM call that rewrites the question using the chat history into a standalone question, "How many units is IS 104 System Analysis and Design?", and we use that for retrieval and for the answer.
The second is a metadata filter. All eight curriculum files have almost identical headers, so embeddings alone cannot reliably tell Year 1 Semester 1 from Year 3 Semester 2. When the student names a year and a semester, we detect it and filter by that metadata instead of relying on similarity. That is why "What subjects are in first year first semester?" returns exactly the right ten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1:30
All of this is steered by one system prompt that we call live_advisor. In Checkpoint 2 we designed four separate prompts, a grounded advisor, a prerequisite checker, a scope guard, and a clarifier, and we merged them, because a live assistant has to handle all of those cases at once.
It has five rules. Refuse off-topic questions in one sentence. Answer only from the retrieved context, and otherwise say "I don't have that information in my knowledge base." Never invent course codes or unit counts. Ask a clarifying question if the answer depends on a year or semester the student did not give. And always name the source document.
On the right are our four layers against hallucination: the prompt rules, retrieval limited to our own documents, sources shown with every answer, and the scope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about 1:15
The course also asks about model customization, such as LoRA or QLoRA fine-tuning. We deliberately did not fine-tune, and we can explain why.
First, our generator is Gemini through an API. We cannot access its weights, so LoRA does not apply. Second, the failures we saw were retrieval problems, not behavior problems: the model followed the rules, but sometimes the right chunk was not in the top four. Third, curriculum facts change every revision, and facts belong in the knowledge base, where we edit a text file, not in model weights.
If we continued, we would first fine-tune the MiniLM embedder on question and chunk pairs and measure recall at four. Only after that would we consider QLoRA on a small open-weight model, to make answer formatting more consistent.
Now [Name 3] will cover deployment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1:45
Thank you, [Name 2]. For the interface we used Streamlit. Each visitor gets their own conversation memory, the index and models load only once, and a panel under every answer shows the sources and what was retrieved. To protect our free API quota, each conversation is capped at 30 questions, and each question at 500 characters.
We package the app with a multi-stage Dockerfile. The first stage installs CPU-only PyTorch, downloads the embedding model, and builds the Chroma index. The second stage copies only what is needed, runs as a non-root user, and starts ready to answer.
The Gemini API key is never in the repository or the image. On our live deployment it is stored in Streamlit's Secrets settings, and in Docker it is passed as an environment variable at runtime. For CI/CD, every push to GitHub triggers GitHub Actions to build the image and run offline tests. We deploy the app on Streamlit Community Cloud straight from the GitHub repository, which gives us a public URL, and the Docker image means the same app can run on any Docker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1:45
We evaluated with an eight-turn scripted conversation. Six answers were correct, grounded, and cited. For example, the prerequisite of IS 104 is IS 103, Latin honors needs a GWA of 1.75 or better with no grade below 2.5, and the probation load is 15 units.
One turn was a correct refusal: when we asked for a haiku about databases, the system declined as out of scope.
And one turn failed safely. After the follow-up "How many units is it?", memory resolved the question correctly, but retrieval missed the unit count, so the system said it did not have that information instead of inventing a number. We are reporting that honestly because it is the clearest example of our main limitation. The three follow-up turns in the table show conversation memory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about 1:15
Our limitations. Top-four retrieval can miss the one chunk that holds a fact. Five of our 23 documents are simulated, so policy answers are not official. Pathfinder does not know a student's grades, so it explains the rules but cannot check an individual's eligibility. And we depend on the Gemini free-tier quota.
For next steps: hybrid keyword and vector search with a reranker; a larger automated test set that includes Year 4; the embedder fine-tuning we described; and replacing our simulated documents with the official TPC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  about 0:45
[Name 1]: To summarize, Pathfinder is grounded. Every answer comes from our knowledge base and names its source document.
[Name 2]: It is honest. It refuses off-topic questions and says "I don't have that information" instead of guessing.
[Name 3]: And it is deployed. It is containerized with Docker, tested by CI, and available on a public URL.
[Name 1]: Thank you for listening. Now we will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(demo)  |  about 3:00
(Open the deployed app. Click "New conversation" first. Ask the questions in the list in order. After the first answer, expand "Sources &amp; retrieval details".)
1. "This is the deployed app on our public URL. I will ask: What are the prerequisites for IS 104 System Analysis and Design? It answers from the Year 2 second-semester curriculum file and shows the retrieved sources below."
2. "Now a follow-up: How many units is it? Look at the standalone query in the panel: memory rewrote 'it' into IS 104. (If it says it does not have that information, say: this is the known retrieval miss from our evaluation, and it fails safely instead of guessing.)"
3. "Policy question: What's the GWA requirement for Latin honors? It retrieves the grading and GWA policy."
4. "Out of scope: Can you write me a haiku about databases? It refuses, as designed."
5. "Metadata filter: What subjects are in first year first semester? Then: What about second sem? The panel shows the year and semester filter applied."
6. "And to cover Year 4: What subjects are in fourth year second semester?"
Closing: "That is Pathfinder: grounded, honest, and deployed. Thank you, Sir."
BACKUP: if the app is asleep or the quota is hit, say so, wait a few seconds, and retry; do not invent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r>
              <a:rPr lang="en-US" sz="6600" b="1" dirty="0">
                <a:solidFill>
                  <a:schemeClr val="bg1"/>
                </a:solidFill>
              </a:rPr>
              <a:t>Title</a:t>
            </a:r>
            <a:endParaRPr lang="en-US" sz="6600" dirty="0"/>
          </a:p>
        </p:txBody>
      </p:sp>
      <p:sp>
        <p:nvSpPr>
          <p:cNvPr id="3" name="Text 0"/>
          <p:cNvSpPr/>
          <p:nvPr>
            <p:ph idx="101" type="body" hasCustomPrompt="1"/>
          </p:nvPr>
        </p:nvSpPr>
        <p:spPr>
          <a:xfrm>
            <a:off x="731520" y="3291840"/>
            <a:ext cx="6766560" cy="91440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r>
              <a:rPr lang="en-US" sz="2400" dirty="0">
                <a:solidFill>
                  <a:schemeClr val="accent1"/>
                </a:solidFill>
              </a:rPr>
              <a:t>Subtitle</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Pathfinder · IS Professional Elective #4 · Talibon Polytechnic College</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Slide title</a:t>
            </a:r>
            <a:endParaRPr lang="en-US" sz="36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bg2"/>
                </a:solidFill>
              </a:rPr>
              <a:t>Pathfinder · IS Professional Elective #4 · Talibon Polytechnic College</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766560" cy="1188720"/>
          </a:xfrm>
          <a:prstGeom prst="rect">
            <a:avLst/>
          </a:prstGeom>
          <a:noFill/>
          <a:ln/>
        </p:spPr>
        <p:txBody>
          <a:bodyPr wrap="square" lIns="0" tIns="0" rIns="0" bIns="0" rtlCol="0" anchor="ctr"/>
          <a:lstStyle/>
          <a:p>
            <a:pPr algn="l" indent="0" marL="0">
              <a:buNone/>
            </a:pPr>
            <a:r>
              <a:rPr lang="en-US" sz="6600" b="1" dirty="0">
                <a:solidFill>
                  <a:schemeClr val="bg1"/>
                </a:solidFill>
              </a:rPr>
              <a:t>Pathfinder</a:t>
            </a:r>
            <a:endParaRPr lang="en-US" sz="6600" dirty="0"/>
          </a:p>
        </p:txBody>
      </p:sp>
      <p:sp>
        <p:nvSpPr>
          <p:cNvPr id="3" name="Text 0"/>
          <p:cNvSpPr/>
          <p:nvPr>
            <p:ph idx="101" type="body" hasCustomPrompt="1"/>
          </p:nvPr>
        </p:nvSpPr>
        <p:spPr>
          <a:xfrm>
            <a:off x="731520" y="3291840"/>
            <a:ext cx="6766560" cy="914400"/>
          </a:xfrm>
          <a:prstGeom prst="rect">
            <a:avLst/>
          </a:prstGeom>
          <a:noFill/>
          <a:ln/>
        </p:spPr>
        <p:txBody>
          <a:bodyPr wrap="square" lIns="0" tIns="0" rIns="0" bIns="0" rtlCol="0" anchor="t"/>
          <a:lstStyle/>
          <a:p>
            <a:pPr algn="l" indent="0" marL="0">
              <a:buNone/>
            </a:pPr>
            <a:r>
              <a:rPr lang="en-US" sz="2400" dirty="0">
                <a:solidFill>
                  <a:schemeClr val="accent1"/>
                </a:solidFill>
              </a:rPr>
              <a:t>A RAG-based Academic Advisor for Course Planning</a:t>
            </a:r>
            <a:endParaRPr lang="en-US" sz="2400" dirty="0"/>
          </a:p>
        </p:txBody>
      </p:sp>
      <p:sp>
        <p:nvSpPr>
          <p:cNvPr id="4" name="Text 2"/>
          <p:cNvSpPr txBox="1"/>
          <p:nvPr/>
        </p:nvSpPr>
        <p:spPr>
          <a:xfrm>
            <a:off x="731520" y="4480560"/>
            <a:ext cx="6766560" cy="731520"/>
          </a:xfrm>
          <a:prstGeom prst="rect">
            <a:avLst/>
          </a:prstGeom>
          <a:noFill/>
          <a:ln/>
        </p:spPr>
        <p:txBody>
          <a:bodyPr wrap="square" lIns="0" tIns="0" rIns="0" bIns="0" rtlCol="0" anchor="t"/>
          <a:lstStyle/>
          <a:p>
            <a:pPr indent="0" marL="0">
              <a:buNone/>
            </a:pPr>
            <a:r>
              <a:rPr lang="en-US" sz="1600" dirty="0">
                <a:solidFill>
                  <a:schemeClr val="bg2"/>
                </a:solidFill>
              </a:rPr>
              <a:t>IS Professional Elective #4 · Generative AI Systems</a:t>
            </a:r>
            <a:endParaRPr lang="en-US" sz="1600" dirty="0"/>
          </a:p>
          <a:p>
            <a:pPr indent="0" marL="0">
              <a:buNone/>
            </a:pPr>
            <a:r>
              <a:rPr lang="en-US" sz="1600" dirty="0">
                <a:solidFill>
                  <a:schemeClr val="bg2"/>
                </a:solidFill>
              </a:rPr>
              <a:t>Talibon Polytechnic College · BSIS</a:t>
            </a:r>
            <a:endParaRPr lang="en-US" sz="1600" dirty="0"/>
          </a:p>
        </p:txBody>
      </p:sp>
      <p:sp>
        <p:nvSpPr>
          <p:cNvPr id="5" name="Text 3"/>
          <p:cNvSpPr txBox="1"/>
          <p:nvPr/>
        </p:nvSpPr>
        <p:spPr>
          <a:xfrm>
            <a:off x="731520" y="5394960"/>
            <a:ext cx="6766560" cy="365760"/>
          </a:xfrm>
          <a:prstGeom prst="rect">
            <a:avLst/>
          </a:prstGeom>
          <a:noFill/>
          <a:ln/>
        </p:spPr>
        <p:txBody>
          <a:bodyPr wrap="square" lIns="0" tIns="0" rIns="0" bIns="0" rtlCol="0" anchor="t"/>
          <a:lstStyle/>
          <a:p>
            <a:pPr indent="0" marL="0">
              <a:buNone/>
            </a:pPr>
            <a:r>
              <a:rPr lang="en-US" sz="1800" b="1" dirty="0">
                <a:solidFill>
                  <a:schemeClr val="bg1"/>
                </a:solidFill>
              </a:rPr>
              <a:t>[Name 1]  ·  [Name 2]  ·  [Name 3]</a:t>
            </a:r>
            <a:endParaRPr lang="en-US" sz="1800" dirty="0"/>
          </a:p>
        </p:txBody>
      </p:sp>
      <p:sp>
        <p:nvSpPr>
          <p:cNvPr id="6" name="Compass badge"/>
          <p:cNvSpPr/>
          <p:nvPr/>
        </p:nvSpPr>
        <p:spPr>
          <a:xfrm>
            <a:off x="8229600" y="1737360"/>
            <a:ext cx="3108960" cy="3108960"/>
          </a:xfrm>
          <a:prstGeom prst="ellipse">
            <a:avLst/>
          </a:prstGeom>
          <a:solidFill>
            <a:schemeClr val="accent1"/>
          </a:solidFill>
          <a:ln/>
        </p:spPr>
      </p:sp>
      <p:pic>
        <p:nvPicPr>
          <p:cNvPr id="7" name="Image 0" descr="Compass icon">    </p:cNvPr>
          <p:cNvPicPr>
            <a:picLocks noChangeAspect="1"/>
          </p:cNvPicPr>
          <p:nvPr/>
        </p:nvPicPr>
        <p:blipFill>
          <a:blip r:embed="rId1"/>
          <a:stretch>
            <a:fillRect/>
          </a:stretch>
        </p:blipFill>
        <p:spPr>
          <a:xfrm>
            <a:off x="8869680" y="237744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Students plan courses from a paper checklist</a:t>
            </a:r>
            <a:endParaRPr lang="en-US" sz="3600" dirty="0"/>
          </a:p>
        </p:txBody>
      </p:sp>
      <p:sp>
        <p:nvSpPr>
          <p:cNvPr id="4" name="A printed curriculum checklist badge"/>
          <p:cNvSpPr/>
          <p:nvPr/>
        </p:nvSpPr>
        <p:spPr>
          <a:xfrm>
            <a:off x="548640" y="1645920"/>
            <a:ext cx="640080" cy="640080"/>
          </a:xfrm>
          <a:prstGeom prst="ellipse">
            <a:avLst/>
          </a:prstGeom>
          <a:solidFill>
            <a:schemeClr val="accent2"/>
          </a:solidFill>
          <a:ln/>
        </p:spPr>
      </p:sp>
      <p:pic>
        <p:nvPicPr>
          <p:cNvPr id="5" name="Image 0" descr="A printed curriculum checklist">    </p:cNvPr>
          <p:cNvPicPr>
            <a:picLocks noChangeAspect="1"/>
          </p:cNvPicPr>
          <p:nvPr/>
        </p:nvPicPr>
        <p:blipFill>
          <a:blip r:embed="rId1"/>
          <a:stretch>
            <a:fillRect/>
          </a:stretch>
        </p:blipFill>
        <p:spPr>
          <a:xfrm>
            <a:off x="708660" y="1805940"/>
            <a:ext cx="320040" cy="320040"/>
          </a:xfrm>
          <a:prstGeom prst="rect">
            <a:avLst/>
          </a:prstGeom>
        </p:spPr>
      </p:pic>
      <p:sp>
        <p:nvSpPr>
          <p:cNvPr id="6" name="Text 2"/>
          <p:cNvSpPr txBox="1"/>
          <p:nvPr/>
        </p:nvSpPr>
        <p:spPr>
          <a:xfrm>
            <a:off x="1417320" y="1627632"/>
            <a:ext cx="5166360" cy="411480"/>
          </a:xfrm>
          <a:prstGeom prst="rect">
            <a:avLst/>
          </a:prstGeom>
          <a:noFill/>
          <a:ln/>
        </p:spPr>
        <p:txBody>
          <a:bodyPr wrap="square" lIns="0" tIns="0" rIns="0" bIns="0" rtlCol="0" anchor="t"/>
          <a:lstStyle/>
          <a:p>
            <a:pPr indent="0" marL="0">
              <a:buNone/>
            </a:pPr>
            <a:r>
              <a:rPr lang="en-US" sz="2000" b="1" dirty="0">
                <a:solidFill>
                  <a:schemeClr val="tx1"/>
                </a:solidFill>
              </a:rPr>
              <a:t>A printed curriculum checklist</a:t>
            </a:r>
            <a:endParaRPr lang="en-US" sz="2000" dirty="0"/>
          </a:p>
        </p:txBody>
      </p:sp>
      <p:sp>
        <p:nvSpPr>
          <p:cNvPr id="7" name="Text 3"/>
          <p:cNvSpPr txBox="1"/>
          <p:nvPr/>
        </p:nvSpPr>
        <p:spPr>
          <a:xfrm>
            <a:off x="1417320" y="2057400"/>
            <a:ext cx="5166360" cy="640080"/>
          </a:xfrm>
          <a:prstGeom prst="rect">
            <a:avLst/>
          </a:prstGeom>
          <a:noFill/>
          <a:ln/>
        </p:spPr>
        <p:txBody>
          <a:bodyPr wrap="square" lIns="0" tIns="0" rIns="0" bIns="0" rtlCol="0" anchor="t"/>
          <a:lstStyle/>
          <a:p>
            <a:pPr indent="0" marL="0">
              <a:buNone/>
            </a:pPr>
            <a:r>
              <a:rPr lang="en-US" sz="1600" dirty="0">
                <a:solidFill>
                  <a:schemeClr val="tx1"/>
                </a:solidFill>
              </a:rPr>
              <a:t>Prerequisites and term plans live in a table, not in an answer.</a:t>
            </a:r>
            <a:endParaRPr lang="en-US" sz="1600" dirty="0"/>
          </a:p>
        </p:txBody>
      </p:sp>
      <p:sp>
        <p:nvSpPr>
          <p:cNvPr id="8" name="Office hours only badge"/>
          <p:cNvSpPr/>
          <p:nvPr/>
        </p:nvSpPr>
        <p:spPr>
          <a:xfrm>
            <a:off x="548640" y="2971800"/>
            <a:ext cx="640080" cy="640080"/>
          </a:xfrm>
          <a:prstGeom prst="ellipse">
            <a:avLst/>
          </a:prstGeom>
          <a:solidFill>
            <a:schemeClr val="accent2"/>
          </a:solidFill>
          <a:ln/>
        </p:spPr>
      </p:sp>
      <p:pic>
        <p:nvPicPr>
          <p:cNvPr id="9" name="Image 1" descr="Office hours only">    </p:cNvPr>
          <p:cNvPicPr>
            <a:picLocks noChangeAspect="1"/>
          </p:cNvPicPr>
          <p:nvPr/>
        </p:nvPicPr>
        <p:blipFill>
          <a:blip r:embed="rId2"/>
          <a:stretch>
            <a:fillRect/>
          </a:stretch>
        </p:blipFill>
        <p:spPr>
          <a:xfrm>
            <a:off x="708660" y="3131820"/>
            <a:ext cx="320040" cy="320040"/>
          </a:xfrm>
          <a:prstGeom prst="rect">
            <a:avLst/>
          </a:prstGeom>
        </p:spPr>
      </p:pic>
      <p:sp>
        <p:nvSpPr>
          <p:cNvPr id="10" name="Text 5"/>
          <p:cNvSpPr txBox="1"/>
          <p:nvPr/>
        </p:nvSpPr>
        <p:spPr>
          <a:xfrm>
            <a:off x="1417320" y="2953512"/>
            <a:ext cx="5166360" cy="411480"/>
          </a:xfrm>
          <a:prstGeom prst="rect">
            <a:avLst/>
          </a:prstGeom>
          <a:noFill/>
          <a:ln/>
        </p:spPr>
        <p:txBody>
          <a:bodyPr wrap="square" lIns="0" tIns="0" rIns="0" bIns="0" rtlCol="0" anchor="t"/>
          <a:lstStyle/>
          <a:p>
            <a:pPr indent="0" marL="0">
              <a:buNone/>
            </a:pPr>
            <a:r>
              <a:rPr lang="en-US" sz="2000" b="1" dirty="0">
                <a:solidFill>
                  <a:schemeClr val="tx1"/>
                </a:solidFill>
              </a:rPr>
              <a:t>Office hours only</a:t>
            </a:r>
            <a:endParaRPr lang="en-US" sz="2000" dirty="0"/>
          </a:p>
        </p:txBody>
      </p:sp>
      <p:sp>
        <p:nvSpPr>
          <p:cNvPr id="11" name="Text 6"/>
          <p:cNvSpPr txBox="1"/>
          <p:nvPr/>
        </p:nvSpPr>
        <p:spPr>
          <a:xfrm>
            <a:off x="1417320" y="3383280"/>
            <a:ext cx="5166360" cy="640080"/>
          </a:xfrm>
          <a:prstGeom prst="rect">
            <a:avLst/>
          </a:prstGeom>
          <a:noFill/>
          <a:ln/>
        </p:spPr>
        <p:txBody>
          <a:bodyPr wrap="square" lIns="0" tIns="0" rIns="0" bIns="0" rtlCol="0" anchor="t"/>
          <a:lstStyle/>
          <a:p>
            <a:pPr indent="0" marL="0">
              <a:buNone/>
            </a:pPr>
            <a:r>
              <a:rPr lang="en-US" sz="1600" dirty="0">
                <a:solidFill>
                  <a:schemeClr val="tx1"/>
                </a:solidFill>
              </a:rPr>
              <a:t>The Program Head and Registrar know the rules, but only part of the day.</a:t>
            </a:r>
            <a:endParaRPr lang="en-US" sz="1600" dirty="0"/>
          </a:p>
        </p:txBody>
      </p:sp>
      <p:sp>
        <p:nvSpPr>
          <p:cNvPr id="12" name="Rules scattered across sources badge"/>
          <p:cNvSpPr/>
          <p:nvPr/>
        </p:nvSpPr>
        <p:spPr>
          <a:xfrm>
            <a:off x="548640" y="4297680"/>
            <a:ext cx="640080" cy="640080"/>
          </a:xfrm>
          <a:prstGeom prst="ellipse">
            <a:avLst/>
          </a:prstGeom>
          <a:solidFill>
            <a:schemeClr val="accent2"/>
          </a:solidFill>
          <a:ln/>
        </p:spPr>
      </p:sp>
      <p:pic>
        <p:nvPicPr>
          <p:cNvPr id="13" name="Image 2" descr="Rules scattered across sources">    </p:cNvPr>
          <p:cNvPicPr>
            <a:picLocks noChangeAspect="1"/>
          </p:cNvPicPr>
          <p:nvPr/>
        </p:nvPicPr>
        <p:blipFill>
          <a:blip r:embed="rId3"/>
          <a:stretch>
            <a:fillRect/>
          </a:stretch>
        </p:blipFill>
        <p:spPr>
          <a:xfrm>
            <a:off x="708660" y="4457700"/>
            <a:ext cx="320040" cy="320040"/>
          </a:xfrm>
          <a:prstGeom prst="rect">
            <a:avLst/>
          </a:prstGeom>
        </p:spPr>
      </p:pic>
      <p:sp>
        <p:nvSpPr>
          <p:cNvPr id="14" name="Text 8"/>
          <p:cNvSpPr txBox="1"/>
          <p:nvPr/>
        </p:nvSpPr>
        <p:spPr>
          <a:xfrm>
            <a:off x="1417320" y="4279392"/>
            <a:ext cx="5166360" cy="411480"/>
          </a:xfrm>
          <a:prstGeom prst="rect">
            <a:avLst/>
          </a:prstGeom>
          <a:noFill/>
          <a:ln/>
        </p:spPr>
        <p:txBody>
          <a:bodyPr wrap="square" lIns="0" tIns="0" rIns="0" bIns="0" rtlCol="0" anchor="t"/>
          <a:lstStyle/>
          <a:p>
            <a:pPr indent="0" marL="0">
              <a:buNone/>
            </a:pPr>
            <a:r>
              <a:rPr lang="en-US" sz="2000" b="1" dirty="0">
                <a:solidFill>
                  <a:schemeClr val="tx1"/>
                </a:solidFill>
              </a:rPr>
              <a:t>Rules scattered across sources</a:t>
            </a:r>
            <a:endParaRPr lang="en-US" sz="2000" dirty="0"/>
          </a:p>
        </p:txBody>
      </p:sp>
      <p:sp>
        <p:nvSpPr>
          <p:cNvPr id="15" name="Text 9"/>
          <p:cNvSpPr txBox="1"/>
          <p:nvPr/>
        </p:nvSpPr>
        <p:spPr>
          <a:xfrm>
            <a:off x="1417320" y="4709160"/>
            <a:ext cx="5166360" cy="822960"/>
          </a:xfrm>
          <a:prstGeom prst="rect">
            <a:avLst/>
          </a:prstGeom>
          <a:noFill/>
          <a:ln/>
        </p:spPr>
        <p:txBody>
          <a:bodyPr wrap="square" lIns="0" tIns="0" rIns="0" bIns="0" rtlCol="0" anchor="t"/>
          <a:lstStyle/>
          <a:p>
            <a:pPr indent="0" marL="0">
              <a:buNone/>
            </a:pPr>
            <a:r>
              <a:rPr lang="en-US" sz="1600" dirty="0">
                <a:solidFill>
                  <a:schemeClr val="tx1"/>
                </a:solidFill>
              </a:rPr>
              <a:t>Probation unit caps, Latin-honors GWA, enrollment steps: checklist, handbook, website.</a:t>
            </a:r>
            <a:endParaRPr lang="en-US" sz="1600" dirty="0"/>
          </a:p>
        </p:txBody>
      </p:sp>
      <p:sp>
        <p:nvSpPr>
          <p:cNvPr id="16" name="Goal card"/>
          <p:cNvSpPr/>
          <p:nvPr/>
        </p:nvSpPr>
        <p:spPr>
          <a:xfrm>
            <a:off x="7040880" y="1554480"/>
            <a:ext cx="4572000" cy="4480560"/>
          </a:xfrm>
          <a:prstGeom prst="rect">
            <a:avLst/>
          </a:prstGeom>
          <a:solidFill>
            <a:schemeClr val="tx1"/>
          </a:solidFill>
          <a:ln/>
        </p:spPr>
      </p:sp>
      <p:sp>
        <p:nvSpPr>
          <p:cNvPr id="17" name="Text 11"/>
          <p:cNvSpPr txBox="1"/>
          <p:nvPr/>
        </p:nvSpPr>
        <p:spPr>
          <a:xfrm>
            <a:off x="7406640" y="1828800"/>
            <a:ext cx="3840480" cy="365760"/>
          </a:xfrm>
          <a:prstGeom prst="rect">
            <a:avLst/>
          </a:prstGeom>
          <a:noFill/>
          <a:ln/>
        </p:spPr>
        <p:txBody>
          <a:bodyPr wrap="square" lIns="0" tIns="0" rIns="0" bIns="0" rtlCol="0" anchor="t"/>
          <a:lstStyle/>
          <a:p>
            <a:pPr indent="0" marL="0">
              <a:buNone/>
            </a:pPr>
            <a:r>
              <a:rPr lang="en-US" sz="1600" b="1" dirty="0">
                <a:solidFill>
                  <a:schemeClr val="accent1"/>
                </a:solidFill>
              </a:rPr>
              <a:t>OUR GOAL</a:t>
            </a:r>
            <a:endParaRPr lang="en-US" sz="1600" dirty="0"/>
          </a:p>
        </p:txBody>
      </p:sp>
      <p:sp>
        <p:nvSpPr>
          <p:cNvPr id="18" name="Text 12"/>
          <p:cNvSpPr txBox="1"/>
          <p:nvPr/>
        </p:nvSpPr>
        <p:spPr>
          <a:xfrm>
            <a:off x="7406640" y="2286000"/>
            <a:ext cx="3840480" cy="1828800"/>
          </a:xfrm>
          <a:prstGeom prst="rect">
            <a:avLst/>
          </a:prstGeom>
          <a:noFill/>
          <a:ln/>
        </p:spPr>
        <p:txBody>
          <a:bodyPr wrap="square" lIns="0" tIns="0" rIns="0" bIns="0" rtlCol="0" anchor="t"/>
          <a:lstStyle/>
          <a:p>
            <a:pPr indent="0" marL="0">
              <a:buNone/>
            </a:pPr>
            <a:r>
              <a:rPr lang="en-US" sz="2800" b="1" dirty="0">
                <a:solidFill>
                  <a:schemeClr val="bg1"/>
                </a:solidFill>
                <a:latin typeface="+mj-lt" pitchFamily="34" charset="0"/>
                <a:ea typeface="+mj-lt" pitchFamily="34" charset="-122"/>
                <a:cs typeface="+mj-lt" pitchFamily="34" charset="-120"/>
              </a:rPr>
              <a:t>Instant answers, grounded in TPC’s own documents</a:t>
            </a:r>
            <a:endParaRPr lang="en-US" sz="2800" dirty="0"/>
          </a:p>
        </p:txBody>
      </p:sp>
      <p:sp>
        <p:nvSpPr>
          <p:cNvPr id="19" name="Text 13"/>
          <p:cNvSpPr txBox="1"/>
          <p:nvPr/>
        </p:nvSpPr>
        <p:spPr>
          <a:xfrm>
            <a:off x="7406640" y="4389120"/>
            <a:ext cx="3840480" cy="1188720"/>
          </a:xfrm>
          <a:prstGeom prst="rect">
            <a:avLst/>
          </a:prstGeom>
          <a:noFill/>
          <a:ln/>
        </p:spPr>
        <p:txBody>
          <a:bodyPr wrap="square" lIns="0" tIns="0" rIns="0" bIns="0" rtlCol="0" anchor="t"/>
          <a:lstStyle/>
          <a:p>
            <a:pPr indent="0" marL="0">
              <a:buNone/>
            </a:pPr>
            <a:r>
              <a:rPr lang="en-US" sz="1600" dirty="0">
                <a:solidFill>
                  <a:schemeClr val="bg2"/>
                </a:solidFill>
              </a:rPr>
              <a:t>Always cite the source document. Say “I don’t have that information” instead of guessing.</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How Pathfinder works, end to end</a:t>
            </a:r>
            <a:endParaRPr lang="en-US" sz="3600" dirty="0"/>
          </a:p>
        </p:txBody>
      </p:sp>
      <p:sp>
        <p:nvSpPr>
          <p:cNvPr id="4" name="Text 1"/>
          <p:cNvSpPr txBox="1"/>
          <p:nvPr/>
        </p:nvSpPr>
        <p:spPr>
          <a:xfrm>
            <a:off x="548640" y="150876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BUILD TIME · once</a:t>
            </a:r>
            <a:endParaRPr lang="en-US" sz="1400" dirty="0"/>
          </a:p>
        </p:txBody>
      </p:sp>
      <p:sp>
        <p:nvSpPr>
          <p:cNvPr id="5" name="Build step 1"/>
          <p:cNvSpPr/>
          <p:nvPr/>
        </p:nvSpPr>
        <p:spPr>
          <a:xfrm>
            <a:off x="548640" y="1874520"/>
            <a:ext cx="1828800" cy="1280160"/>
          </a:xfrm>
          <a:prstGeom prst="rect">
            <a:avLst/>
          </a:prstGeom>
          <a:solidFill>
            <a:schemeClr val="bg2"/>
          </a:solidFill>
          <a:ln/>
        </p:spPr>
      </p:sp>
      <p:sp>
        <p:nvSpPr>
          <p:cNvPr id="6" name="Text 3"/>
          <p:cNvSpPr txBox="1"/>
          <p:nvPr/>
        </p:nvSpPr>
        <p:spPr>
          <a:xfrm>
            <a:off x="658368" y="1965960"/>
            <a:ext cx="1609344" cy="640080"/>
          </a:xfrm>
          <a:prstGeom prst="rect">
            <a:avLst/>
          </a:prstGeom>
          <a:noFill/>
          <a:ln/>
        </p:spPr>
        <p:txBody>
          <a:bodyPr wrap="square" lIns="0" tIns="0" rIns="0" bIns="0" rtlCol="0" anchor="t"/>
          <a:lstStyle/>
          <a:p>
            <a:pPr indent="0" marL="0">
              <a:buNone/>
            </a:pPr>
            <a:r>
              <a:rPr lang="en-US" sz="1800" b="1" dirty="0">
                <a:solidFill>
                  <a:schemeClr val="tx1"/>
                </a:solidFill>
              </a:rPr>
              <a:t>Collect sources</a:t>
            </a:r>
            <a:endParaRPr lang="en-US" sz="1800" dirty="0"/>
          </a:p>
        </p:txBody>
      </p:sp>
      <p:sp>
        <p:nvSpPr>
          <p:cNvPr id="7" name="Text 4"/>
          <p:cNvSpPr txBox="1"/>
          <p:nvPr/>
        </p:nvSpPr>
        <p:spPr>
          <a:xfrm>
            <a:off x="658368" y="2651760"/>
            <a:ext cx="1609344" cy="457200"/>
          </a:xfrm>
          <a:prstGeom prst="rect">
            <a:avLst/>
          </a:prstGeom>
          <a:noFill/>
          <a:ln/>
        </p:spPr>
        <p:txBody>
          <a:bodyPr wrap="square" lIns="0" tIns="0" rIns="0" bIns="0" rtlCol="0" anchor="t"/>
          <a:lstStyle/>
          <a:p>
            <a:pPr indent="0" marL="0">
              <a:buNone/>
            </a:pPr>
            <a:r>
              <a:rPr lang="en-US" sz="1600" dirty="0">
                <a:solidFill>
                  <a:schemeClr val="tx1"/>
                </a:solidFill>
              </a:rPr>
              <a:t>23 documents</a:t>
            </a:r>
            <a:endParaRPr lang="en-US" sz="1600" dirty="0"/>
          </a:p>
        </p:txBody>
      </p:sp>
      <p:sp>
        <p:nvSpPr>
          <p:cNvPr id="8" name="Shape 5"/>
          <p:cNvSpPr/>
          <p:nvPr/>
        </p:nvSpPr>
        <p:spPr>
          <a:xfrm>
            <a:off x="2441448" y="2468880"/>
            <a:ext cx="352044" cy="0"/>
          </a:xfrm>
          <a:prstGeom prst="line">
            <a:avLst/>
          </a:prstGeom>
          <a:noFill/>
          <a:ln w="31750">
            <a:solidFill>
              <a:schemeClr val="accent6"/>
            </a:solidFill>
            <a:prstDash val="solid"/>
            <a:tailEnd type="triangle"/>
          </a:ln>
        </p:spPr>
      </p:sp>
      <p:sp>
        <p:nvSpPr>
          <p:cNvPr id="9" name="Build step 2"/>
          <p:cNvSpPr/>
          <p:nvPr/>
        </p:nvSpPr>
        <p:spPr>
          <a:xfrm>
            <a:off x="2857500" y="1874520"/>
            <a:ext cx="1828800" cy="1280160"/>
          </a:xfrm>
          <a:prstGeom prst="rect">
            <a:avLst/>
          </a:prstGeom>
          <a:solidFill>
            <a:schemeClr val="bg2"/>
          </a:solidFill>
          <a:ln/>
        </p:spPr>
      </p:sp>
      <p:sp>
        <p:nvSpPr>
          <p:cNvPr id="10" name="Text 7"/>
          <p:cNvSpPr txBox="1"/>
          <p:nvPr/>
        </p:nvSpPr>
        <p:spPr>
          <a:xfrm>
            <a:off x="2967228" y="1965960"/>
            <a:ext cx="1609344" cy="640080"/>
          </a:xfrm>
          <a:prstGeom prst="rect">
            <a:avLst/>
          </a:prstGeom>
          <a:noFill/>
          <a:ln/>
        </p:spPr>
        <p:txBody>
          <a:bodyPr wrap="square" lIns="0" tIns="0" rIns="0" bIns="0" rtlCol="0" anchor="t"/>
          <a:lstStyle/>
          <a:p>
            <a:pPr indent="0" marL="0">
              <a:buNone/>
            </a:pPr>
            <a:r>
              <a:rPr lang="en-US" sz="1800" b="1" dirty="0">
                <a:solidFill>
                  <a:schemeClr val="tx1"/>
                </a:solidFill>
              </a:rPr>
              <a:t>Clean and chunk</a:t>
            </a:r>
            <a:endParaRPr lang="en-US" sz="1800" dirty="0"/>
          </a:p>
        </p:txBody>
      </p:sp>
      <p:sp>
        <p:nvSpPr>
          <p:cNvPr id="11" name="Text 8"/>
          <p:cNvSpPr txBox="1"/>
          <p:nvPr/>
        </p:nvSpPr>
        <p:spPr>
          <a:xfrm>
            <a:off x="2967228" y="2651760"/>
            <a:ext cx="1609344" cy="457200"/>
          </a:xfrm>
          <a:prstGeom prst="rect">
            <a:avLst/>
          </a:prstGeom>
          <a:noFill/>
          <a:ln/>
        </p:spPr>
        <p:txBody>
          <a:bodyPr wrap="square" lIns="0" tIns="0" rIns="0" bIns="0" rtlCol="0" anchor="t"/>
          <a:lstStyle/>
          <a:p>
            <a:pPr indent="0" marL="0">
              <a:buNone/>
            </a:pPr>
            <a:r>
              <a:rPr lang="en-US" sz="1600" dirty="0">
                <a:solidFill>
                  <a:schemeClr val="tx1"/>
                </a:solidFill>
              </a:rPr>
              <a:t>105 chunks</a:t>
            </a:r>
            <a:endParaRPr lang="en-US" sz="1600" dirty="0"/>
          </a:p>
        </p:txBody>
      </p:sp>
      <p:sp>
        <p:nvSpPr>
          <p:cNvPr id="12" name="Shape 9"/>
          <p:cNvSpPr/>
          <p:nvPr/>
        </p:nvSpPr>
        <p:spPr>
          <a:xfrm>
            <a:off x="4750308" y="2468880"/>
            <a:ext cx="352044" cy="0"/>
          </a:xfrm>
          <a:prstGeom prst="line">
            <a:avLst/>
          </a:prstGeom>
          <a:noFill/>
          <a:ln w="31750">
            <a:solidFill>
              <a:schemeClr val="accent6"/>
            </a:solidFill>
            <a:prstDash val="solid"/>
            <a:tailEnd type="triangle"/>
          </a:ln>
        </p:spPr>
      </p:sp>
      <p:sp>
        <p:nvSpPr>
          <p:cNvPr id="13" name="Build step 3"/>
          <p:cNvSpPr/>
          <p:nvPr/>
        </p:nvSpPr>
        <p:spPr>
          <a:xfrm>
            <a:off x="5166360" y="1874520"/>
            <a:ext cx="1828800" cy="1280160"/>
          </a:xfrm>
          <a:prstGeom prst="rect">
            <a:avLst/>
          </a:prstGeom>
          <a:solidFill>
            <a:schemeClr val="bg2"/>
          </a:solidFill>
          <a:ln/>
        </p:spPr>
      </p:sp>
      <p:sp>
        <p:nvSpPr>
          <p:cNvPr id="14" name="Text 11"/>
          <p:cNvSpPr txBox="1"/>
          <p:nvPr/>
        </p:nvSpPr>
        <p:spPr>
          <a:xfrm>
            <a:off x="5276088" y="1965960"/>
            <a:ext cx="1609344" cy="640080"/>
          </a:xfrm>
          <a:prstGeom prst="rect">
            <a:avLst/>
          </a:prstGeom>
          <a:noFill/>
          <a:ln/>
        </p:spPr>
        <p:txBody>
          <a:bodyPr wrap="square" lIns="0" tIns="0" rIns="0" bIns="0" rtlCol="0" anchor="t"/>
          <a:lstStyle/>
          <a:p>
            <a:pPr indent="0" marL="0">
              <a:buNone/>
            </a:pPr>
            <a:r>
              <a:rPr lang="en-US" sz="1800" b="1" dirty="0">
                <a:solidFill>
                  <a:schemeClr val="tx1"/>
                </a:solidFill>
              </a:rPr>
              <a:t>Embed</a:t>
            </a:r>
            <a:endParaRPr lang="en-US" sz="1800" dirty="0"/>
          </a:p>
        </p:txBody>
      </p:sp>
      <p:sp>
        <p:nvSpPr>
          <p:cNvPr id="15" name="Text 12"/>
          <p:cNvSpPr txBox="1"/>
          <p:nvPr/>
        </p:nvSpPr>
        <p:spPr>
          <a:xfrm>
            <a:off x="5276088" y="2651760"/>
            <a:ext cx="1609344" cy="457200"/>
          </a:xfrm>
          <a:prstGeom prst="rect">
            <a:avLst/>
          </a:prstGeom>
          <a:noFill/>
          <a:ln/>
        </p:spPr>
        <p:txBody>
          <a:bodyPr wrap="square" lIns="0" tIns="0" rIns="0" bIns="0" rtlCol="0" anchor="t"/>
          <a:lstStyle/>
          <a:p>
            <a:pPr indent="0" marL="0">
              <a:buNone/>
            </a:pPr>
            <a:r>
              <a:rPr lang="en-US" sz="1600" dirty="0">
                <a:solidFill>
                  <a:schemeClr val="tx1"/>
                </a:solidFill>
              </a:rPr>
              <a:t>MiniLM, 384-dim</a:t>
            </a:r>
            <a:endParaRPr lang="en-US" sz="1600" dirty="0"/>
          </a:p>
        </p:txBody>
      </p:sp>
      <p:sp>
        <p:nvSpPr>
          <p:cNvPr id="16" name="Shape 13"/>
          <p:cNvSpPr/>
          <p:nvPr/>
        </p:nvSpPr>
        <p:spPr>
          <a:xfrm>
            <a:off x="7059168" y="2468880"/>
            <a:ext cx="352044" cy="0"/>
          </a:xfrm>
          <a:prstGeom prst="line">
            <a:avLst/>
          </a:prstGeom>
          <a:noFill/>
          <a:ln w="31750">
            <a:solidFill>
              <a:schemeClr val="accent6"/>
            </a:solidFill>
            <a:prstDash val="solid"/>
            <a:tailEnd type="triangle"/>
          </a:ln>
        </p:spPr>
      </p:sp>
      <p:sp>
        <p:nvSpPr>
          <p:cNvPr id="17" name="Build step 4"/>
          <p:cNvSpPr/>
          <p:nvPr/>
        </p:nvSpPr>
        <p:spPr>
          <a:xfrm>
            <a:off x="7475220" y="1874520"/>
            <a:ext cx="1828800" cy="1280160"/>
          </a:xfrm>
          <a:prstGeom prst="rect">
            <a:avLst/>
          </a:prstGeom>
          <a:solidFill>
            <a:schemeClr val="bg2"/>
          </a:solidFill>
          <a:ln/>
        </p:spPr>
      </p:sp>
      <p:sp>
        <p:nvSpPr>
          <p:cNvPr id="18" name="Text 15"/>
          <p:cNvSpPr txBox="1"/>
          <p:nvPr/>
        </p:nvSpPr>
        <p:spPr>
          <a:xfrm>
            <a:off x="7584948" y="1965960"/>
            <a:ext cx="1609344" cy="640080"/>
          </a:xfrm>
          <a:prstGeom prst="rect">
            <a:avLst/>
          </a:prstGeom>
          <a:noFill/>
          <a:ln/>
        </p:spPr>
        <p:txBody>
          <a:bodyPr wrap="square" lIns="0" tIns="0" rIns="0" bIns="0" rtlCol="0" anchor="t"/>
          <a:lstStyle/>
          <a:p>
            <a:pPr indent="0" marL="0">
              <a:buNone/>
            </a:pPr>
            <a:r>
              <a:rPr lang="en-US" sz="1800" b="1" dirty="0">
                <a:solidFill>
                  <a:schemeClr val="tx1"/>
                </a:solidFill>
              </a:rPr>
              <a:t>Chroma index</a:t>
            </a:r>
            <a:endParaRPr lang="en-US" sz="1800" dirty="0"/>
          </a:p>
        </p:txBody>
      </p:sp>
      <p:sp>
        <p:nvSpPr>
          <p:cNvPr id="19" name="Text 16"/>
          <p:cNvSpPr txBox="1"/>
          <p:nvPr/>
        </p:nvSpPr>
        <p:spPr>
          <a:xfrm>
            <a:off x="7584948" y="2651760"/>
            <a:ext cx="1609344" cy="457200"/>
          </a:xfrm>
          <a:prstGeom prst="rect">
            <a:avLst/>
          </a:prstGeom>
          <a:noFill/>
          <a:ln/>
        </p:spPr>
        <p:txBody>
          <a:bodyPr wrap="square" lIns="0" tIns="0" rIns="0" bIns="0" rtlCol="0" anchor="t"/>
          <a:lstStyle/>
          <a:p>
            <a:pPr indent="0" marL="0">
              <a:buNone/>
            </a:pPr>
            <a:r>
              <a:rPr lang="en-US" sz="1600" dirty="0">
                <a:solidFill>
                  <a:schemeClr val="tx1"/>
                </a:solidFill>
              </a:rPr>
              <a:t>cosine search</a:t>
            </a:r>
            <a:endParaRPr lang="en-US" sz="1600" dirty="0"/>
          </a:p>
        </p:txBody>
      </p:sp>
      <p:sp>
        <p:nvSpPr>
          <p:cNvPr id="20" name="Shape 17"/>
          <p:cNvSpPr/>
          <p:nvPr/>
        </p:nvSpPr>
        <p:spPr>
          <a:xfrm>
            <a:off x="9368028" y="2468880"/>
            <a:ext cx="352044" cy="0"/>
          </a:xfrm>
          <a:prstGeom prst="line">
            <a:avLst/>
          </a:prstGeom>
          <a:noFill/>
          <a:ln w="31750">
            <a:solidFill>
              <a:schemeClr val="accent6"/>
            </a:solidFill>
            <a:prstDash val="solid"/>
            <a:tailEnd type="triangle"/>
          </a:ln>
        </p:spPr>
      </p:sp>
      <p:sp>
        <p:nvSpPr>
          <p:cNvPr id="21" name="Build step 5"/>
          <p:cNvSpPr/>
          <p:nvPr/>
        </p:nvSpPr>
        <p:spPr>
          <a:xfrm>
            <a:off x="9784080" y="1874520"/>
            <a:ext cx="1828800" cy="1280160"/>
          </a:xfrm>
          <a:prstGeom prst="rect">
            <a:avLst/>
          </a:prstGeom>
          <a:solidFill>
            <a:schemeClr val="bg2"/>
          </a:solidFill>
          <a:ln/>
        </p:spPr>
      </p:sp>
      <p:sp>
        <p:nvSpPr>
          <p:cNvPr id="22" name="Text 19"/>
          <p:cNvSpPr txBox="1"/>
          <p:nvPr/>
        </p:nvSpPr>
        <p:spPr>
          <a:xfrm>
            <a:off x="9893808" y="1965960"/>
            <a:ext cx="1609344" cy="640080"/>
          </a:xfrm>
          <a:prstGeom prst="rect">
            <a:avLst/>
          </a:prstGeom>
          <a:noFill/>
          <a:ln/>
        </p:spPr>
        <p:txBody>
          <a:bodyPr wrap="square" lIns="0" tIns="0" rIns="0" bIns="0" rtlCol="0" anchor="t"/>
          <a:lstStyle/>
          <a:p>
            <a:pPr indent="0" marL="0">
              <a:buNone/>
            </a:pPr>
            <a:r>
              <a:rPr lang="en-US" sz="1800" b="1" dirty="0">
                <a:solidFill>
                  <a:schemeClr val="tx1"/>
                </a:solidFill>
              </a:rPr>
              <a:t>Docker image</a:t>
            </a:r>
            <a:endParaRPr lang="en-US" sz="1800" dirty="0"/>
          </a:p>
        </p:txBody>
      </p:sp>
      <p:sp>
        <p:nvSpPr>
          <p:cNvPr id="23" name="Text 20"/>
          <p:cNvSpPr txBox="1"/>
          <p:nvPr/>
        </p:nvSpPr>
        <p:spPr>
          <a:xfrm>
            <a:off x="9893808" y="2651760"/>
            <a:ext cx="1609344" cy="457200"/>
          </a:xfrm>
          <a:prstGeom prst="rect">
            <a:avLst/>
          </a:prstGeom>
          <a:noFill/>
          <a:ln/>
        </p:spPr>
        <p:txBody>
          <a:bodyPr wrap="square" lIns="0" tIns="0" rIns="0" bIns="0" rtlCol="0" anchor="t"/>
          <a:lstStyle/>
          <a:p>
            <a:pPr indent="0" marL="0">
              <a:buNone/>
            </a:pPr>
            <a:r>
              <a:rPr lang="en-US" sz="1600" dirty="0">
                <a:solidFill>
                  <a:schemeClr val="tx1"/>
                </a:solidFill>
              </a:rPr>
              <a:t>index baked in</a:t>
            </a:r>
            <a:endParaRPr lang="en-US" sz="1600" dirty="0"/>
          </a:p>
        </p:txBody>
      </p:sp>
      <p:sp>
        <p:nvSpPr>
          <p:cNvPr id="24" name="Text 21"/>
          <p:cNvSpPr txBox="1"/>
          <p:nvPr/>
        </p:nvSpPr>
        <p:spPr>
          <a:xfrm>
            <a:off x="548640" y="342900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EVERY QUESTION · live</a:t>
            </a:r>
            <a:endParaRPr lang="en-US" sz="1400" dirty="0"/>
          </a:p>
        </p:txBody>
      </p:sp>
      <p:sp>
        <p:nvSpPr>
          <p:cNvPr id="25" name="Live step 1"/>
          <p:cNvSpPr/>
          <p:nvPr/>
        </p:nvSpPr>
        <p:spPr>
          <a:xfrm>
            <a:off x="548640" y="3794760"/>
            <a:ext cx="1828800" cy="1371600"/>
          </a:xfrm>
          <a:prstGeom prst="rect">
            <a:avLst/>
          </a:prstGeom>
          <a:solidFill>
            <a:schemeClr val="accent2"/>
          </a:solidFill>
          <a:ln/>
        </p:spPr>
      </p:sp>
      <p:sp>
        <p:nvSpPr>
          <p:cNvPr id="26" name="Text 23"/>
          <p:cNvSpPr txBox="1"/>
          <p:nvPr/>
        </p:nvSpPr>
        <p:spPr>
          <a:xfrm>
            <a:off x="658368" y="3904488"/>
            <a:ext cx="1609344" cy="640080"/>
          </a:xfrm>
          <a:prstGeom prst="rect">
            <a:avLst/>
          </a:prstGeom>
          <a:noFill/>
          <a:ln/>
        </p:spPr>
        <p:txBody>
          <a:bodyPr wrap="square" lIns="0" tIns="0" rIns="0" bIns="0" rtlCol="0" anchor="t"/>
          <a:lstStyle/>
          <a:p>
            <a:pPr indent="0" marL="0">
              <a:buNone/>
            </a:pPr>
            <a:r>
              <a:rPr lang="en-US" sz="1800" b="1" dirty="0">
                <a:solidFill>
                  <a:schemeClr val="bg1"/>
                </a:solidFill>
              </a:rPr>
              <a:t>Student asks</a:t>
            </a:r>
            <a:endParaRPr lang="en-US" sz="1800" dirty="0"/>
          </a:p>
        </p:txBody>
      </p:sp>
      <p:sp>
        <p:nvSpPr>
          <p:cNvPr id="27" name="Text 24"/>
          <p:cNvSpPr txBox="1"/>
          <p:nvPr/>
        </p:nvSpPr>
        <p:spPr>
          <a:xfrm>
            <a:off x="658368" y="4572000"/>
            <a:ext cx="1609344" cy="502920"/>
          </a:xfrm>
          <a:prstGeom prst="rect">
            <a:avLst/>
          </a:prstGeom>
          <a:noFill/>
          <a:ln/>
        </p:spPr>
        <p:txBody>
          <a:bodyPr wrap="square" lIns="0" tIns="0" rIns="0" bIns="0" rtlCol="0" anchor="t"/>
          <a:lstStyle/>
          <a:p>
            <a:pPr indent="0" marL="0">
              <a:buNone/>
            </a:pPr>
            <a:r>
              <a:rPr lang="en-US" sz="1600" dirty="0">
                <a:solidFill>
                  <a:schemeClr val="bg1"/>
                </a:solidFill>
              </a:rPr>
              <a:t>Streamlit chat</a:t>
            </a:r>
            <a:endParaRPr lang="en-US" sz="1600" dirty="0"/>
          </a:p>
        </p:txBody>
      </p:sp>
      <p:sp>
        <p:nvSpPr>
          <p:cNvPr id="28" name="Shape 25"/>
          <p:cNvSpPr/>
          <p:nvPr/>
        </p:nvSpPr>
        <p:spPr>
          <a:xfrm>
            <a:off x="2441448" y="4480560"/>
            <a:ext cx="352044" cy="0"/>
          </a:xfrm>
          <a:prstGeom prst="line">
            <a:avLst/>
          </a:prstGeom>
          <a:noFill/>
          <a:ln w="31750">
            <a:solidFill>
              <a:schemeClr val="accent6"/>
            </a:solidFill>
            <a:prstDash val="solid"/>
            <a:tailEnd type="triangle"/>
          </a:ln>
        </p:spPr>
      </p:sp>
      <p:sp>
        <p:nvSpPr>
          <p:cNvPr id="29" name="Live step 2"/>
          <p:cNvSpPr/>
          <p:nvPr/>
        </p:nvSpPr>
        <p:spPr>
          <a:xfrm>
            <a:off x="2857500" y="3794760"/>
            <a:ext cx="1828800" cy="1371600"/>
          </a:xfrm>
          <a:prstGeom prst="rect">
            <a:avLst/>
          </a:prstGeom>
          <a:solidFill>
            <a:schemeClr val="accent2"/>
          </a:solidFill>
          <a:ln/>
        </p:spPr>
      </p:sp>
      <p:sp>
        <p:nvSpPr>
          <p:cNvPr id="30" name="Text 27"/>
          <p:cNvSpPr txBox="1"/>
          <p:nvPr/>
        </p:nvSpPr>
        <p:spPr>
          <a:xfrm>
            <a:off x="2967228" y="3904488"/>
            <a:ext cx="1609344" cy="640080"/>
          </a:xfrm>
          <a:prstGeom prst="rect">
            <a:avLst/>
          </a:prstGeom>
          <a:noFill/>
          <a:ln/>
        </p:spPr>
        <p:txBody>
          <a:bodyPr wrap="square" lIns="0" tIns="0" rIns="0" bIns="0" rtlCol="0" anchor="t"/>
          <a:lstStyle/>
          <a:p>
            <a:pPr indent="0" marL="0">
              <a:buNone/>
            </a:pPr>
            <a:r>
              <a:rPr lang="en-US" sz="1800" b="1" dirty="0">
                <a:solidFill>
                  <a:schemeClr val="bg1"/>
                </a:solidFill>
              </a:rPr>
              <a:t>Rewrite follow-ups</a:t>
            </a:r>
            <a:endParaRPr lang="en-US" sz="1800" dirty="0"/>
          </a:p>
        </p:txBody>
      </p:sp>
      <p:sp>
        <p:nvSpPr>
          <p:cNvPr id="31" name="Text 28"/>
          <p:cNvSpPr txBox="1"/>
          <p:nvPr/>
        </p:nvSpPr>
        <p:spPr>
          <a:xfrm>
            <a:off x="2967228" y="4572000"/>
            <a:ext cx="1609344" cy="502920"/>
          </a:xfrm>
          <a:prstGeom prst="rect">
            <a:avLst/>
          </a:prstGeom>
          <a:noFill/>
          <a:ln/>
        </p:spPr>
        <p:txBody>
          <a:bodyPr wrap="square" lIns="0" tIns="0" rIns="0" bIns="0" rtlCol="0" anchor="t"/>
          <a:lstStyle/>
          <a:p>
            <a:pPr indent="0" marL="0">
              <a:buNone/>
            </a:pPr>
            <a:r>
              <a:rPr lang="en-US" sz="1600" dirty="0">
                <a:solidFill>
                  <a:schemeClr val="bg1"/>
                </a:solidFill>
              </a:rPr>
              <a:t>uses chat memory</a:t>
            </a:r>
            <a:endParaRPr lang="en-US" sz="1600" dirty="0"/>
          </a:p>
        </p:txBody>
      </p:sp>
      <p:sp>
        <p:nvSpPr>
          <p:cNvPr id="32" name="Shape 29"/>
          <p:cNvSpPr/>
          <p:nvPr/>
        </p:nvSpPr>
        <p:spPr>
          <a:xfrm>
            <a:off x="4750308" y="4480560"/>
            <a:ext cx="352044" cy="0"/>
          </a:xfrm>
          <a:prstGeom prst="line">
            <a:avLst/>
          </a:prstGeom>
          <a:noFill/>
          <a:ln w="31750">
            <a:solidFill>
              <a:schemeClr val="accent6"/>
            </a:solidFill>
            <a:prstDash val="solid"/>
            <a:tailEnd type="triangle"/>
          </a:ln>
        </p:spPr>
      </p:sp>
      <p:sp>
        <p:nvSpPr>
          <p:cNvPr id="33" name="Live step 3"/>
          <p:cNvSpPr/>
          <p:nvPr/>
        </p:nvSpPr>
        <p:spPr>
          <a:xfrm>
            <a:off x="5166360" y="3794760"/>
            <a:ext cx="1828800" cy="1371600"/>
          </a:xfrm>
          <a:prstGeom prst="rect">
            <a:avLst/>
          </a:prstGeom>
          <a:solidFill>
            <a:schemeClr val="accent2"/>
          </a:solidFill>
          <a:ln/>
        </p:spPr>
      </p:sp>
      <p:sp>
        <p:nvSpPr>
          <p:cNvPr id="34" name="Text 31"/>
          <p:cNvSpPr txBox="1"/>
          <p:nvPr/>
        </p:nvSpPr>
        <p:spPr>
          <a:xfrm>
            <a:off x="5276088" y="3904488"/>
            <a:ext cx="1609344" cy="640080"/>
          </a:xfrm>
          <a:prstGeom prst="rect">
            <a:avLst/>
          </a:prstGeom>
          <a:noFill/>
          <a:ln/>
        </p:spPr>
        <p:txBody>
          <a:bodyPr wrap="square" lIns="0" tIns="0" rIns="0" bIns="0" rtlCol="0" anchor="t"/>
          <a:lstStyle/>
          <a:p>
            <a:pPr indent="0" marL="0">
              <a:buNone/>
            </a:pPr>
            <a:r>
              <a:rPr lang="en-US" sz="1800" b="1" dirty="0">
                <a:solidFill>
                  <a:schemeClr val="bg1"/>
                </a:solidFill>
              </a:rPr>
              <a:t>Retrieve top 4</a:t>
            </a:r>
            <a:endParaRPr lang="en-US" sz="1800" dirty="0"/>
          </a:p>
        </p:txBody>
      </p:sp>
      <p:sp>
        <p:nvSpPr>
          <p:cNvPr id="35" name="Text 32"/>
          <p:cNvSpPr txBox="1"/>
          <p:nvPr/>
        </p:nvSpPr>
        <p:spPr>
          <a:xfrm>
            <a:off x="5276088" y="4572000"/>
            <a:ext cx="1609344" cy="502920"/>
          </a:xfrm>
          <a:prstGeom prst="rect">
            <a:avLst/>
          </a:prstGeom>
          <a:noFill/>
          <a:ln/>
        </p:spPr>
        <p:txBody>
          <a:bodyPr wrap="square" lIns="0" tIns="0" rIns="0" bIns="0" rtlCol="0" anchor="t"/>
          <a:lstStyle/>
          <a:p>
            <a:pPr indent="0" marL="0">
              <a:buNone/>
            </a:pPr>
            <a:r>
              <a:rPr lang="en-US" sz="1600" dirty="0">
                <a:solidFill>
                  <a:schemeClr val="bg1"/>
                </a:solidFill>
              </a:rPr>
              <a:t>plus term filter</a:t>
            </a:r>
            <a:endParaRPr lang="en-US" sz="1600" dirty="0"/>
          </a:p>
        </p:txBody>
      </p:sp>
      <p:sp>
        <p:nvSpPr>
          <p:cNvPr id="36" name="Shape 33"/>
          <p:cNvSpPr/>
          <p:nvPr/>
        </p:nvSpPr>
        <p:spPr>
          <a:xfrm>
            <a:off x="7059168" y="4480560"/>
            <a:ext cx="352044" cy="0"/>
          </a:xfrm>
          <a:prstGeom prst="line">
            <a:avLst/>
          </a:prstGeom>
          <a:noFill/>
          <a:ln w="31750">
            <a:solidFill>
              <a:schemeClr val="accent6"/>
            </a:solidFill>
            <a:prstDash val="solid"/>
            <a:tailEnd type="triangle"/>
          </a:ln>
        </p:spPr>
      </p:sp>
      <p:sp>
        <p:nvSpPr>
          <p:cNvPr id="37" name="Live step 4"/>
          <p:cNvSpPr/>
          <p:nvPr/>
        </p:nvSpPr>
        <p:spPr>
          <a:xfrm>
            <a:off x="7475220" y="3794760"/>
            <a:ext cx="1828800" cy="1371600"/>
          </a:xfrm>
          <a:prstGeom prst="rect">
            <a:avLst/>
          </a:prstGeom>
          <a:solidFill>
            <a:schemeClr val="accent2"/>
          </a:solidFill>
          <a:ln/>
        </p:spPr>
      </p:sp>
      <p:sp>
        <p:nvSpPr>
          <p:cNvPr id="38" name="Text 35"/>
          <p:cNvSpPr txBox="1"/>
          <p:nvPr/>
        </p:nvSpPr>
        <p:spPr>
          <a:xfrm>
            <a:off x="7584948" y="3904488"/>
            <a:ext cx="1609344" cy="640080"/>
          </a:xfrm>
          <a:prstGeom prst="rect">
            <a:avLst/>
          </a:prstGeom>
          <a:noFill/>
          <a:ln/>
        </p:spPr>
        <p:txBody>
          <a:bodyPr wrap="square" lIns="0" tIns="0" rIns="0" bIns="0" rtlCol="0" anchor="t"/>
          <a:lstStyle/>
          <a:p>
            <a:pPr indent="0" marL="0">
              <a:buNone/>
            </a:pPr>
            <a:r>
              <a:rPr lang="en-US" sz="1800" b="1" dirty="0">
                <a:solidFill>
                  <a:schemeClr val="bg1"/>
                </a:solidFill>
              </a:rPr>
              <a:t>Gemini answers</a:t>
            </a:r>
            <a:endParaRPr lang="en-US" sz="1800" dirty="0"/>
          </a:p>
        </p:txBody>
      </p:sp>
      <p:sp>
        <p:nvSpPr>
          <p:cNvPr id="39" name="Text 36"/>
          <p:cNvSpPr txBox="1"/>
          <p:nvPr/>
        </p:nvSpPr>
        <p:spPr>
          <a:xfrm>
            <a:off x="7584948" y="4572000"/>
            <a:ext cx="1609344" cy="502920"/>
          </a:xfrm>
          <a:prstGeom prst="rect">
            <a:avLst/>
          </a:prstGeom>
          <a:noFill/>
          <a:ln/>
        </p:spPr>
        <p:txBody>
          <a:bodyPr wrap="square" lIns="0" tIns="0" rIns="0" bIns="0" rtlCol="0" anchor="t"/>
          <a:lstStyle/>
          <a:p>
            <a:pPr indent="0" marL="0">
              <a:buNone/>
            </a:pPr>
            <a:r>
              <a:rPr lang="en-US" sz="1600" dirty="0">
                <a:solidFill>
                  <a:schemeClr val="bg1"/>
                </a:solidFill>
              </a:rPr>
              <a:t>live_advisor prompt</a:t>
            </a:r>
            <a:endParaRPr lang="en-US" sz="1600" dirty="0"/>
          </a:p>
        </p:txBody>
      </p:sp>
      <p:sp>
        <p:nvSpPr>
          <p:cNvPr id="40" name="Shape 37"/>
          <p:cNvSpPr/>
          <p:nvPr/>
        </p:nvSpPr>
        <p:spPr>
          <a:xfrm>
            <a:off x="9368028" y="4480560"/>
            <a:ext cx="352044" cy="0"/>
          </a:xfrm>
          <a:prstGeom prst="line">
            <a:avLst/>
          </a:prstGeom>
          <a:noFill/>
          <a:ln w="31750">
            <a:solidFill>
              <a:schemeClr val="accent6"/>
            </a:solidFill>
            <a:prstDash val="solid"/>
            <a:tailEnd type="triangle"/>
          </a:ln>
        </p:spPr>
      </p:sp>
      <p:sp>
        <p:nvSpPr>
          <p:cNvPr id="41" name="Live step 5"/>
          <p:cNvSpPr/>
          <p:nvPr/>
        </p:nvSpPr>
        <p:spPr>
          <a:xfrm>
            <a:off x="9784080" y="3794760"/>
            <a:ext cx="1828800" cy="1371600"/>
          </a:xfrm>
          <a:prstGeom prst="rect">
            <a:avLst/>
          </a:prstGeom>
          <a:solidFill>
            <a:schemeClr val="accent1"/>
          </a:solidFill>
          <a:ln/>
        </p:spPr>
      </p:sp>
      <p:sp>
        <p:nvSpPr>
          <p:cNvPr id="42" name="Text 39"/>
          <p:cNvSpPr txBox="1"/>
          <p:nvPr/>
        </p:nvSpPr>
        <p:spPr>
          <a:xfrm>
            <a:off x="9893808" y="3904488"/>
            <a:ext cx="1609344" cy="640080"/>
          </a:xfrm>
          <a:prstGeom prst="rect">
            <a:avLst/>
          </a:prstGeom>
          <a:noFill/>
          <a:ln/>
        </p:spPr>
        <p:txBody>
          <a:bodyPr wrap="square" lIns="0" tIns="0" rIns="0" bIns="0" rtlCol="0" anchor="t"/>
          <a:lstStyle/>
          <a:p>
            <a:pPr indent="0" marL="0">
              <a:buNone/>
            </a:pPr>
            <a:r>
              <a:rPr lang="en-US" sz="1800" b="1" dirty="0">
                <a:solidFill>
                  <a:schemeClr val="tx1"/>
                </a:solidFill>
              </a:rPr>
              <a:t>Cited answer</a:t>
            </a:r>
            <a:endParaRPr lang="en-US" sz="1800" dirty="0"/>
          </a:p>
        </p:txBody>
      </p:sp>
      <p:sp>
        <p:nvSpPr>
          <p:cNvPr id="43" name="Text 40"/>
          <p:cNvSpPr txBox="1"/>
          <p:nvPr/>
        </p:nvSpPr>
        <p:spPr>
          <a:xfrm>
            <a:off x="9893808" y="4572000"/>
            <a:ext cx="1609344" cy="502920"/>
          </a:xfrm>
          <a:prstGeom prst="rect">
            <a:avLst/>
          </a:prstGeom>
          <a:noFill/>
          <a:ln/>
        </p:spPr>
        <p:txBody>
          <a:bodyPr wrap="square" lIns="0" tIns="0" rIns="0" bIns="0" rtlCol="0" anchor="t"/>
          <a:lstStyle/>
          <a:p>
            <a:pPr indent="0" marL="0">
              <a:buNone/>
            </a:pPr>
            <a:r>
              <a:rPr lang="en-US" sz="1600" dirty="0">
                <a:solidFill>
                  <a:schemeClr val="tx1"/>
                </a:solidFill>
              </a:rPr>
              <a:t>source named</a:t>
            </a:r>
            <a:endParaRPr lang="en-US" sz="1600" dirty="0"/>
          </a:p>
        </p:txBody>
      </p:sp>
      <p:sp>
        <p:nvSpPr>
          <p:cNvPr id="44" name="Text 41"/>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600" dirty="0">
                <a:solidFill>
                  <a:schemeClr val="tx1"/>
                </a:solidFill>
              </a:rPr>
              <a:t>Embeddings run locally on CPU; the only external call is Gemini (one extra call to rewrite a follow-up).</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Data: 23 documents, 105 searchable chunks</a:t>
            </a:r>
            <a:endParaRPr lang="en-US" sz="3600" dirty="0"/>
          </a:p>
        </p:txBody>
      </p:sp>
      <p:sp>
        <p:nvSpPr>
          <p:cNvPr id="4" name="Stat 23"/>
          <p:cNvSpPr/>
          <p:nvPr/>
        </p:nvSpPr>
        <p:spPr>
          <a:xfrm>
            <a:off x="548640" y="1554480"/>
            <a:ext cx="3383280" cy="1371600"/>
          </a:xfrm>
          <a:prstGeom prst="rect">
            <a:avLst/>
          </a:prstGeom>
          <a:solidFill>
            <a:schemeClr val="bg2"/>
          </a:solidFill>
          <a:ln/>
        </p:spPr>
      </p:sp>
      <p:sp>
        <p:nvSpPr>
          <p:cNvPr id="5" name="Text 2"/>
          <p:cNvSpPr txBox="1"/>
          <p:nvPr/>
        </p:nvSpPr>
        <p:spPr>
          <a:xfrm>
            <a:off x="777240" y="1664208"/>
            <a:ext cx="2926080" cy="731520"/>
          </a:xfrm>
          <a:prstGeom prst="rect">
            <a:avLst/>
          </a:prstGeom>
          <a:noFill/>
          <a:ln/>
        </p:spPr>
        <p:txBody>
          <a:bodyPr wrap="square" lIns="0" tIns="0" rIns="0" bIns="0" rtlCol="0" anchor="t"/>
          <a:lstStyle/>
          <a:p>
            <a:pPr indent="0" marL="0">
              <a:buNone/>
            </a:pPr>
            <a:r>
              <a:rPr lang="en-US" sz="4400" b="1" dirty="0">
                <a:solidFill>
                  <a:schemeClr val="accent2"/>
                </a:solidFill>
                <a:latin typeface="+mj-lt" pitchFamily="34" charset="0"/>
                <a:ea typeface="+mj-lt" pitchFamily="34" charset="-122"/>
                <a:cs typeface="+mj-lt" pitchFamily="34" charset="-120"/>
              </a:rPr>
              <a:t>23</a:t>
            </a:r>
            <a:endParaRPr lang="en-US" sz="4400" dirty="0"/>
          </a:p>
        </p:txBody>
      </p:sp>
      <p:sp>
        <p:nvSpPr>
          <p:cNvPr id="6" name="Text 3"/>
          <p:cNvSpPr txBox="1"/>
          <p:nvPr/>
        </p:nvSpPr>
        <p:spPr>
          <a:xfrm>
            <a:off x="777240" y="2423160"/>
            <a:ext cx="2926080" cy="411480"/>
          </a:xfrm>
          <a:prstGeom prst="rect">
            <a:avLst/>
          </a:prstGeom>
          <a:noFill/>
          <a:ln/>
        </p:spPr>
        <p:txBody>
          <a:bodyPr wrap="square" lIns="0" tIns="0" rIns="0" bIns="0" rtlCol="0" anchor="t"/>
          <a:lstStyle/>
          <a:p>
            <a:pPr indent="0" marL="0">
              <a:buNone/>
            </a:pPr>
            <a:r>
              <a:rPr lang="en-US" sz="1400" dirty="0">
                <a:solidFill>
                  <a:schemeClr val="tx1"/>
                </a:solidFill>
              </a:rPr>
              <a:t>documents: 18 real, 5 simulated and labeled</a:t>
            </a:r>
            <a:endParaRPr lang="en-US" sz="1400" dirty="0"/>
          </a:p>
        </p:txBody>
      </p:sp>
      <p:sp>
        <p:nvSpPr>
          <p:cNvPr id="7" name="Stat 105"/>
          <p:cNvSpPr/>
          <p:nvPr/>
        </p:nvSpPr>
        <p:spPr>
          <a:xfrm>
            <a:off x="548640" y="3063240"/>
            <a:ext cx="3383280" cy="1371600"/>
          </a:xfrm>
          <a:prstGeom prst="rect">
            <a:avLst/>
          </a:prstGeom>
          <a:solidFill>
            <a:schemeClr val="bg2"/>
          </a:solidFill>
          <a:ln/>
        </p:spPr>
      </p:sp>
      <p:sp>
        <p:nvSpPr>
          <p:cNvPr id="8" name="Text 5"/>
          <p:cNvSpPr txBox="1"/>
          <p:nvPr/>
        </p:nvSpPr>
        <p:spPr>
          <a:xfrm>
            <a:off x="777240" y="3172968"/>
            <a:ext cx="2926080" cy="731520"/>
          </a:xfrm>
          <a:prstGeom prst="rect">
            <a:avLst/>
          </a:prstGeom>
          <a:noFill/>
          <a:ln/>
        </p:spPr>
        <p:txBody>
          <a:bodyPr wrap="square" lIns="0" tIns="0" rIns="0" bIns="0" rtlCol="0" anchor="t"/>
          <a:lstStyle/>
          <a:p>
            <a:pPr indent="0" marL="0">
              <a:buNone/>
            </a:pPr>
            <a:r>
              <a:rPr lang="en-US" sz="4400" b="1" dirty="0">
                <a:solidFill>
                  <a:schemeClr val="accent2"/>
                </a:solidFill>
                <a:latin typeface="+mj-lt" pitchFamily="34" charset="0"/>
                <a:ea typeface="+mj-lt" pitchFamily="34" charset="-122"/>
                <a:cs typeface="+mj-lt" pitchFamily="34" charset="-120"/>
              </a:rPr>
              <a:t>105</a:t>
            </a:r>
            <a:endParaRPr lang="en-US" sz="4400" dirty="0"/>
          </a:p>
        </p:txBody>
      </p:sp>
      <p:sp>
        <p:nvSpPr>
          <p:cNvPr id="9" name="Text 6"/>
          <p:cNvSpPr txBox="1"/>
          <p:nvPr/>
        </p:nvSpPr>
        <p:spPr>
          <a:xfrm>
            <a:off x="777240" y="3931920"/>
            <a:ext cx="2926080" cy="411480"/>
          </a:xfrm>
          <a:prstGeom prst="rect">
            <a:avLst/>
          </a:prstGeom>
          <a:noFill/>
          <a:ln/>
        </p:spPr>
        <p:txBody>
          <a:bodyPr wrap="square" lIns="0" tIns="0" rIns="0" bIns="0" rtlCol="0" anchor="t"/>
          <a:lstStyle/>
          <a:p>
            <a:pPr indent="0" marL="0">
              <a:buNone/>
            </a:pPr>
            <a:r>
              <a:rPr lang="en-US" sz="1400" dirty="0">
                <a:solidFill>
                  <a:schemeClr val="tx1"/>
                </a:solidFill>
              </a:rPr>
              <a:t>chunks of up to 500 characters</a:t>
            </a:r>
            <a:endParaRPr lang="en-US" sz="1400" dirty="0"/>
          </a:p>
        </p:txBody>
      </p:sp>
      <p:sp>
        <p:nvSpPr>
          <p:cNvPr id="10" name="Stat −28%"/>
          <p:cNvSpPr/>
          <p:nvPr/>
        </p:nvSpPr>
        <p:spPr>
          <a:xfrm>
            <a:off x="548640" y="4572000"/>
            <a:ext cx="3383280" cy="1371600"/>
          </a:xfrm>
          <a:prstGeom prst="rect">
            <a:avLst/>
          </a:prstGeom>
          <a:solidFill>
            <a:schemeClr val="bg2"/>
          </a:solidFill>
          <a:ln/>
        </p:spPr>
      </p:sp>
      <p:sp>
        <p:nvSpPr>
          <p:cNvPr id="11" name="Text 8"/>
          <p:cNvSpPr txBox="1"/>
          <p:nvPr/>
        </p:nvSpPr>
        <p:spPr>
          <a:xfrm>
            <a:off x="777240" y="4681728"/>
            <a:ext cx="2926080" cy="731520"/>
          </a:xfrm>
          <a:prstGeom prst="rect">
            <a:avLst/>
          </a:prstGeom>
          <a:noFill/>
          <a:ln/>
        </p:spPr>
        <p:txBody>
          <a:bodyPr wrap="square" lIns="0" tIns="0" rIns="0" bIns="0" rtlCol="0" anchor="t"/>
          <a:lstStyle/>
          <a:p>
            <a:pPr indent="0" marL="0">
              <a:buNone/>
            </a:pPr>
            <a:r>
              <a:rPr lang="en-US" sz="4400" b="1" dirty="0">
                <a:solidFill>
                  <a:schemeClr val="accent2"/>
                </a:solidFill>
                <a:latin typeface="+mj-lt" pitchFamily="34" charset="0"/>
                <a:ea typeface="+mj-lt" pitchFamily="34" charset="-122"/>
                <a:cs typeface="+mj-lt" pitchFamily="34" charset="-120"/>
              </a:rPr>
              <a:t>−28%</a:t>
            </a:r>
            <a:endParaRPr lang="en-US" sz="4400" dirty="0"/>
          </a:p>
        </p:txBody>
      </p:sp>
      <p:sp>
        <p:nvSpPr>
          <p:cNvPr id="12" name="Text 9"/>
          <p:cNvSpPr txBox="1"/>
          <p:nvPr/>
        </p:nvSpPr>
        <p:spPr>
          <a:xfrm>
            <a:off x="777240" y="5440680"/>
            <a:ext cx="2926080" cy="411480"/>
          </a:xfrm>
          <a:prstGeom prst="rect">
            <a:avLst/>
          </a:prstGeom>
          <a:noFill/>
          <a:ln/>
        </p:spPr>
        <p:txBody>
          <a:bodyPr wrap="square" lIns="0" tIns="0" rIns="0" bIns="0" rtlCol="0" anchor="t"/>
          <a:lstStyle/>
          <a:p>
            <a:pPr indent="0" marL="0">
              <a:buNone/>
            </a:pPr>
            <a:r>
              <a:rPr lang="en-US" sz="1400" dirty="0">
                <a:solidFill>
                  <a:schemeClr val="tx1"/>
                </a:solidFill>
              </a:rPr>
              <a:t>text noise removed by cleaning</a:t>
            </a:r>
            <a:endParaRPr lang="en-US" sz="1400" dirty="0"/>
          </a:p>
        </p:txBody>
      </p:sp>
      <p:sp>
        <p:nvSpPr>
          <p:cNvPr id="13" name="Extract badge"/>
          <p:cNvSpPr/>
          <p:nvPr/>
        </p:nvSpPr>
        <p:spPr>
          <a:xfrm>
            <a:off x="4480560" y="1600200"/>
            <a:ext cx="640080" cy="640080"/>
          </a:xfrm>
          <a:prstGeom prst="ellipse">
            <a:avLst/>
          </a:prstGeom>
          <a:solidFill>
            <a:schemeClr val="accent2"/>
          </a:solidFill>
          <a:ln/>
        </p:spPr>
      </p:sp>
      <p:pic>
        <p:nvPicPr>
          <p:cNvPr id="14" name="Image 0" descr="Extract">    </p:cNvPr>
          <p:cNvPicPr>
            <a:picLocks noChangeAspect="1"/>
          </p:cNvPicPr>
          <p:nvPr/>
        </p:nvPicPr>
        <p:blipFill>
          <a:blip r:embed="rId1"/>
          <a:stretch>
            <a:fillRect/>
          </a:stretch>
        </p:blipFill>
        <p:spPr>
          <a:xfrm>
            <a:off x="4640580" y="1760220"/>
            <a:ext cx="320040" cy="320040"/>
          </a:xfrm>
          <a:prstGeom prst="rect">
            <a:avLst/>
          </a:prstGeom>
        </p:spPr>
      </p:pic>
      <p:sp>
        <p:nvSpPr>
          <p:cNvPr id="15" name="Text 11"/>
          <p:cNvSpPr txBox="1"/>
          <p:nvPr/>
        </p:nvSpPr>
        <p:spPr>
          <a:xfrm>
            <a:off x="5349240" y="1581912"/>
            <a:ext cx="6263640" cy="411480"/>
          </a:xfrm>
          <a:prstGeom prst="rect">
            <a:avLst/>
          </a:prstGeom>
          <a:noFill/>
          <a:ln/>
        </p:spPr>
        <p:txBody>
          <a:bodyPr wrap="square" lIns="0" tIns="0" rIns="0" bIns="0" rtlCol="0" anchor="t"/>
          <a:lstStyle/>
          <a:p>
            <a:pPr indent="0" marL="0">
              <a:buNone/>
            </a:pPr>
            <a:r>
              <a:rPr lang="en-US" sz="2000" b="1" dirty="0">
                <a:solidFill>
                  <a:schemeClr val="tx1"/>
                </a:solidFill>
              </a:rPr>
              <a:t>Extract</a:t>
            </a:r>
            <a:endParaRPr lang="en-US" sz="2000" dirty="0"/>
          </a:p>
        </p:txBody>
      </p:sp>
      <p:sp>
        <p:nvSpPr>
          <p:cNvPr id="16" name="Text 12"/>
          <p:cNvSpPr txBox="1"/>
          <p:nvPr/>
        </p:nvSpPr>
        <p:spPr>
          <a:xfrm>
            <a:off x="5349240" y="2011680"/>
            <a:ext cx="6263640" cy="640080"/>
          </a:xfrm>
          <a:prstGeom prst="rect">
            <a:avLst/>
          </a:prstGeom>
          <a:noFill/>
          <a:ln/>
        </p:spPr>
        <p:txBody>
          <a:bodyPr wrap="square" lIns="0" tIns="0" rIns="0" bIns="0" rtlCol="0" anchor="t"/>
          <a:lstStyle/>
          <a:p>
            <a:pPr indent="0" marL="0">
              <a:buNone/>
            </a:pPr>
            <a:r>
              <a:rPr lang="en-US" sz="1600" dirty="0">
                <a:solidFill>
                  <a:schemeClr val="tx1"/>
                </a:solidFill>
              </a:rPr>
              <a:t>BeautifulSoup replaced a regex that leaked JavaScript into the text.</a:t>
            </a:r>
            <a:endParaRPr lang="en-US" sz="1600" dirty="0"/>
          </a:p>
        </p:txBody>
      </p:sp>
      <p:sp>
        <p:nvSpPr>
          <p:cNvPr id="17" name="Clean badge"/>
          <p:cNvSpPr/>
          <p:nvPr/>
        </p:nvSpPr>
        <p:spPr>
          <a:xfrm>
            <a:off x="4480560" y="2743200"/>
            <a:ext cx="640080" cy="640080"/>
          </a:xfrm>
          <a:prstGeom prst="ellipse">
            <a:avLst/>
          </a:prstGeom>
          <a:solidFill>
            <a:schemeClr val="accent2"/>
          </a:solidFill>
          <a:ln/>
        </p:spPr>
      </p:sp>
      <p:pic>
        <p:nvPicPr>
          <p:cNvPr id="18" name="Image 1" descr="Clean">    </p:cNvPr>
          <p:cNvPicPr>
            <a:picLocks noChangeAspect="1"/>
          </p:cNvPicPr>
          <p:nvPr/>
        </p:nvPicPr>
        <p:blipFill>
          <a:blip r:embed="rId2"/>
          <a:stretch>
            <a:fillRect/>
          </a:stretch>
        </p:blipFill>
        <p:spPr>
          <a:xfrm>
            <a:off x="4640580" y="2903220"/>
            <a:ext cx="320040" cy="320040"/>
          </a:xfrm>
          <a:prstGeom prst="rect">
            <a:avLst/>
          </a:prstGeom>
        </p:spPr>
      </p:pic>
      <p:sp>
        <p:nvSpPr>
          <p:cNvPr id="19" name="Text 14"/>
          <p:cNvSpPr txBox="1"/>
          <p:nvPr/>
        </p:nvSpPr>
        <p:spPr>
          <a:xfrm>
            <a:off x="5349240" y="2724912"/>
            <a:ext cx="6263640" cy="411480"/>
          </a:xfrm>
          <a:prstGeom prst="rect">
            <a:avLst/>
          </a:prstGeom>
          <a:noFill/>
          <a:ln/>
        </p:spPr>
        <p:txBody>
          <a:bodyPr wrap="square" lIns="0" tIns="0" rIns="0" bIns="0" rtlCol="0" anchor="t"/>
          <a:lstStyle/>
          <a:p>
            <a:pPr indent="0" marL="0">
              <a:buNone/>
            </a:pPr>
            <a:r>
              <a:rPr lang="en-US" sz="2000" b="1" dirty="0">
                <a:solidFill>
                  <a:schemeClr val="tx1"/>
                </a:solidFill>
              </a:rPr>
              <a:t>Clean</a:t>
            </a:r>
            <a:endParaRPr lang="en-US" sz="2000" dirty="0"/>
          </a:p>
        </p:txBody>
      </p:sp>
      <p:sp>
        <p:nvSpPr>
          <p:cNvPr id="20" name="Text 15"/>
          <p:cNvSpPr txBox="1"/>
          <p:nvPr/>
        </p:nvSpPr>
        <p:spPr>
          <a:xfrm>
            <a:off x="5349240" y="3154680"/>
            <a:ext cx="6263640" cy="640080"/>
          </a:xfrm>
          <a:prstGeom prst="rect">
            <a:avLst/>
          </a:prstGeom>
          <a:noFill/>
          <a:ln/>
        </p:spPr>
        <p:txBody>
          <a:bodyPr wrap="square" lIns="0" tIns="0" rIns="0" bIns="0" rtlCol="0" anchor="t"/>
          <a:lstStyle/>
          <a:p>
            <a:pPr indent="0" marL="0">
              <a:buNone/>
            </a:pPr>
            <a:r>
              <a:rPr lang="en-US" sz="1600" dirty="0">
                <a:solidFill>
                  <a:schemeClr val="tx1"/>
                </a:solidFill>
              </a:rPr>
              <a:t>Removed repeated menus and footers; normalized whitespace.</a:t>
            </a:r>
            <a:endParaRPr lang="en-US" sz="1600" dirty="0"/>
          </a:p>
        </p:txBody>
      </p:sp>
      <p:sp>
        <p:nvSpPr>
          <p:cNvPr id="21" name="Chunk badge"/>
          <p:cNvSpPr/>
          <p:nvPr/>
        </p:nvSpPr>
        <p:spPr>
          <a:xfrm>
            <a:off x="4480560" y="3886200"/>
            <a:ext cx="640080" cy="640080"/>
          </a:xfrm>
          <a:prstGeom prst="ellipse">
            <a:avLst/>
          </a:prstGeom>
          <a:solidFill>
            <a:schemeClr val="accent2"/>
          </a:solidFill>
          <a:ln/>
        </p:spPr>
      </p:sp>
      <p:pic>
        <p:nvPicPr>
          <p:cNvPr id="22" name="Image 2" descr="Chunk">    </p:cNvPr>
          <p:cNvPicPr>
            <a:picLocks noChangeAspect="1"/>
          </p:cNvPicPr>
          <p:nvPr/>
        </p:nvPicPr>
        <p:blipFill>
          <a:blip r:embed="rId3"/>
          <a:stretch>
            <a:fillRect/>
          </a:stretch>
        </p:blipFill>
        <p:spPr>
          <a:xfrm>
            <a:off x="4640580" y="4046220"/>
            <a:ext cx="320040" cy="320040"/>
          </a:xfrm>
          <a:prstGeom prst="rect">
            <a:avLst/>
          </a:prstGeom>
        </p:spPr>
      </p:pic>
      <p:sp>
        <p:nvSpPr>
          <p:cNvPr id="23" name="Text 17"/>
          <p:cNvSpPr txBox="1"/>
          <p:nvPr/>
        </p:nvSpPr>
        <p:spPr>
          <a:xfrm>
            <a:off x="5349240" y="3867912"/>
            <a:ext cx="6263640" cy="411480"/>
          </a:xfrm>
          <a:prstGeom prst="rect">
            <a:avLst/>
          </a:prstGeom>
          <a:noFill/>
          <a:ln/>
        </p:spPr>
        <p:txBody>
          <a:bodyPr wrap="square" lIns="0" tIns="0" rIns="0" bIns="0" rtlCol="0" anchor="t"/>
          <a:lstStyle/>
          <a:p>
            <a:pPr indent="0" marL="0">
              <a:buNone/>
            </a:pPr>
            <a:r>
              <a:rPr lang="en-US" sz="2000" b="1" dirty="0">
                <a:solidFill>
                  <a:schemeClr val="tx1"/>
                </a:solidFill>
              </a:rPr>
              <a:t>Chunk</a:t>
            </a:r>
            <a:endParaRPr lang="en-US" sz="2000" dirty="0"/>
          </a:p>
        </p:txBody>
      </p:sp>
      <p:sp>
        <p:nvSpPr>
          <p:cNvPr id="24" name="Text 18"/>
          <p:cNvSpPr txBox="1"/>
          <p:nvPr/>
        </p:nvSpPr>
        <p:spPr>
          <a:xfrm>
            <a:off x="5349240" y="4297680"/>
            <a:ext cx="6263640" cy="640080"/>
          </a:xfrm>
          <a:prstGeom prst="rect">
            <a:avLst/>
          </a:prstGeom>
          <a:noFill/>
          <a:ln/>
        </p:spPr>
        <p:txBody>
          <a:bodyPr wrap="square" lIns="0" tIns="0" rIns="0" bIns="0" rtlCol="0" anchor="t"/>
          <a:lstStyle/>
          <a:p>
            <a:pPr indent="0" marL="0">
              <a:buNone/>
            </a:pPr>
            <a:r>
              <a:rPr lang="en-US" sz="1600" dirty="0">
                <a:solidFill>
                  <a:schemeClr val="tx1"/>
                </a:solidFill>
              </a:rPr>
              <a:t>Sentence-aware, never splits mid-sentence, so “Latin honors” stays with “1.75”.</a:t>
            </a:r>
            <a:endParaRPr lang="en-US" sz="1600" dirty="0"/>
          </a:p>
        </p:txBody>
      </p:sp>
      <p:sp>
        <p:nvSpPr>
          <p:cNvPr id="25" name="Tag badge"/>
          <p:cNvSpPr/>
          <p:nvPr/>
        </p:nvSpPr>
        <p:spPr>
          <a:xfrm>
            <a:off x="4480560" y="5029200"/>
            <a:ext cx="640080" cy="640080"/>
          </a:xfrm>
          <a:prstGeom prst="ellipse">
            <a:avLst/>
          </a:prstGeom>
          <a:solidFill>
            <a:schemeClr val="accent2"/>
          </a:solidFill>
          <a:ln/>
        </p:spPr>
      </p:sp>
      <p:pic>
        <p:nvPicPr>
          <p:cNvPr id="26" name="Image 3" descr="Tag">    </p:cNvPr>
          <p:cNvPicPr>
            <a:picLocks noChangeAspect="1"/>
          </p:cNvPicPr>
          <p:nvPr/>
        </p:nvPicPr>
        <p:blipFill>
          <a:blip r:embed="rId4"/>
          <a:stretch>
            <a:fillRect/>
          </a:stretch>
        </p:blipFill>
        <p:spPr>
          <a:xfrm>
            <a:off x="4640580" y="5189220"/>
            <a:ext cx="320040" cy="320040"/>
          </a:xfrm>
          <a:prstGeom prst="rect">
            <a:avLst/>
          </a:prstGeom>
        </p:spPr>
      </p:pic>
      <p:sp>
        <p:nvSpPr>
          <p:cNvPr id="27" name="Text 20"/>
          <p:cNvSpPr txBox="1"/>
          <p:nvPr/>
        </p:nvSpPr>
        <p:spPr>
          <a:xfrm>
            <a:off x="5349240" y="5010912"/>
            <a:ext cx="6263640" cy="411480"/>
          </a:xfrm>
          <a:prstGeom prst="rect">
            <a:avLst/>
          </a:prstGeom>
          <a:noFill/>
          <a:ln/>
        </p:spPr>
        <p:txBody>
          <a:bodyPr wrap="square" lIns="0" tIns="0" rIns="0" bIns="0" rtlCol="0" anchor="t"/>
          <a:lstStyle/>
          <a:p>
            <a:pPr indent="0" marL="0">
              <a:buNone/>
            </a:pPr>
            <a:r>
              <a:rPr lang="en-US" sz="2000" b="1" dirty="0">
                <a:solidFill>
                  <a:schemeClr val="tx1"/>
                </a:solidFill>
              </a:rPr>
              <a:t>Tag</a:t>
            </a:r>
            <a:endParaRPr lang="en-US" sz="2000" dirty="0"/>
          </a:p>
        </p:txBody>
      </p:sp>
      <p:sp>
        <p:nvSpPr>
          <p:cNvPr id="28" name="Text 21"/>
          <p:cNvSpPr txBox="1"/>
          <p:nvPr/>
        </p:nvSpPr>
        <p:spPr>
          <a:xfrm>
            <a:off x="5349240" y="5440680"/>
            <a:ext cx="6263640" cy="640080"/>
          </a:xfrm>
          <a:prstGeom prst="rect">
            <a:avLst/>
          </a:prstGeom>
          <a:noFill/>
          <a:ln/>
        </p:spPr>
        <p:txBody>
          <a:bodyPr wrap="square" lIns="0" tIns="0" rIns="0" bIns="0" rtlCol="0" anchor="t"/>
          <a:lstStyle/>
          <a:p>
            <a:pPr indent="0" marL="0">
              <a:buNone/>
            </a:pPr>
            <a:r>
              <a:rPr lang="en-US" sz="1600" dirty="0">
                <a:solidFill>
                  <a:schemeClr val="tx1"/>
                </a:solidFill>
              </a:rPr>
              <a:t>Each chunk keeps source, category, and (curriculum) year and semester.</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Retrieval: MiniLM embeddings in Chroma</a:t>
            </a:r>
            <a:endParaRPr lang="en-US" sz="3600" dirty="0"/>
          </a:p>
        </p:txBody>
      </p:sp>
      <p:sp>
        <p:nvSpPr>
          <p:cNvPr id="4" name="Text 1"/>
          <p:cNvSpPr txBox="1"/>
          <p:nvPr/>
        </p:nvSpPr>
        <p:spPr>
          <a:xfrm>
            <a:off x="548640" y="1554480"/>
            <a:ext cx="5486400" cy="365760"/>
          </a:xfrm>
          <a:prstGeom prst="rect">
            <a:avLst/>
          </a:prstGeom>
          <a:noFill/>
          <a:ln/>
        </p:spPr>
        <p:txBody>
          <a:bodyPr wrap="square" lIns="0" tIns="0" rIns="0" bIns="0" rtlCol="0" anchor="t"/>
          <a:lstStyle/>
          <a:p>
            <a:pPr indent="0" marL="0">
              <a:buNone/>
            </a:pPr>
            <a:r>
              <a:rPr lang="en-US" sz="1800" b="1" dirty="0">
                <a:solidFill>
                  <a:schemeClr val="tx1"/>
                </a:solidFill>
              </a:rPr>
              <a:t>Distance metric test on our own chunks</a:t>
            </a:r>
            <a:endParaRPr lang="en-US" sz="1800" dirty="0"/>
          </a:p>
        </p:txBody>
      </p:sp>
      <p:sp>
        <p:nvSpPr>
          <p:cNvPr id="5" name="Cosine card"/>
          <p:cNvSpPr/>
          <p:nvPr/>
        </p:nvSpPr>
        <p:spPr>
          <a:xfrm>
            <a:off x="548640" y="2011680"/>
            <a:ext cx="5394960" cy="566928"/>
          </a:xfrm>
          <a:prstGeom prst="rect">
            <a:avLst/>
          </a:prstGeom>
          <a:solidFill>
            <a:schemeClr val="bg2"/>
          </a:solidFill>
          <a:ln/>
        </p:spPr>
      </p:sp>
      <p:sp>
        <p:nvSpPr>
          <p:cNvPr id="6" name="Text 3"/>
          <p:cNvSpPr txBox="1"/>
          <p:nvPr/>
        </p:nvSpPr>
        <p:spPr>
          <a:xfrm>
            <a:off x="777240" y="2148840"/>
            <a:ext cx="2377440" cy="320040"/>
          </a:xfrm>
          <a:prstGeom prst="rect">
            <a:avLst/>
          </a:prstGeom>
          <a:noFill/>
          <a:ln/>
        </p:spPr>
        <p:txBody>
          <a:bodyPr wrap="square" lIns="0" tIns="0" rIns="0" bIns="0" rtlCol="0" anchor="t"/>
          <a:lstStyle/>
          <a:p>
            <a:pPr indent="0" marL="0">
              <a:buNone/>
            </a:pPr>
            <a:r>
              <a:rPr lang="en-US" sz="1800" b="1" dirty="0">
                <a:solidFill>
                  <a:schemeClr val="tx1"/>
                </a:solidFill>
              </a:rPr>
              <a:t>Cosine</a:t>
            </a:r>
            <a:endParaRPr lang="en-US" sz="1800" dirty="0"/>
          </a:p>
        </p:txBody>
      </p:sp>
      <p:sp>
        <p:nvSpPr>
          <p:cNvPr id="7" name="Text 4"/>
          <p:cNvSpPr txBox="1"/>
          <p:nvPr/>
        </p:nvSpPr>
        <p:spPr>
          <a:xfrm>
            <a:off x="3108960" y="2167128"/>
            <a:ext cx="2651760" cy="320040"/>
          </a:xfrm>
          <a:prstGeom prst="rect">
            <a:avLst/>
          </a:prstGeom>
          <a:noFill/>
          <a:ln/>
        </p:spPr>
        <p:txBody>
          <a:bodyPr wrap="square" lIns="0" tIns="0" rIns="0" bIns="0" rtlCol="0" anchor="t"/>
          <a:lstStyle/>
          <a:p>
            <a:pPr algn="r" indent="0" marL="0">
              <a:buNone/>
            </a:pPr>
            <a:r>
              <a:rPr lang="en-US" sz="1600" b="1" dirty="0">
                <a:solidFill>
                  <a:schemeClr val="accent5"/>
                </a:solidFill>
              </a:rPr>
              <a:t>identical top-3 results</a:t>
            </a:r>
            <a:endParaRPr lang="en-US" sz="1600" dirty="0"/>
          </a:p>
        </p:txBody>
      </p:sp>
      <p:sp>
        <p:nvSpPr>
          <p:cNvPr id="8" name="Euclidean card"/>
          <p:cNvSpPr/>
          <p:nvPr/>
        </p:nvSpPr>
        <p:spPr>
          <a:xfrm>
            <a:off x="548640" y="2697480"/>
            <a:ext cx="5394960" cy="566928"/>
          </a:xfrm>
          <a:prstGeom prst="rect">
            <a:avLst/>
          </a:prstGeom>
          <a:solidFill>
            <a:schemeClr val="bg2"/>
          </a:solidFill>
          <a:ln/>
        </p:spPr>
      </p:sp>
      <p:sp>
        <p:nvSpPr>
          <p:cNvPr id="9" name="Text 6"/>
          <p:cNvSpPr txBox="1"/>
          <p:nvPr/>
        </p:nvSpPr>
        <p:spPr>
          <a:xfrm>
            <a:off x="777240" y="2834640"/>
            <a:ext cx="2377440" cy="320040"/>
          </a:xfrm>
          <a:prstGeom prst="rect">
            <a:avLst/>
          </a:prstGeom>
          <a:noFill/>
          <a:ln/>
        </p:spPr>
        <p:txBody>
          <a:bodyPr wrap="square" lIns="0" tIns="0" rIns="0" bIns="0" rtlCol="0" anchor="t"/>
          <a:lstStyle/>
          <a:p>
            <a:pPr indent="0" marL="0">
              <a:buNone/>
            </a:pPr>
            <a:r>
              <a:rPr lang="en-US" sz="1800" b="1" dirty="0">
                <a:solidFill>
                  <a:schemeClr val="tx1"/>
                </a:solidFill>
              </a:rPr>
              <a:t>Euclidean</a:t>
            </a:r>
            <a:endParaRPr lang="en-US" sz="1800" dirty="0"/>
          </a:p>
        </p:txBody>
      </p:sp>
      <p:sp>
        <p:nvSpPr>
          <p:cNvPr id="10" name="Text 7"/>
          <p:cNvSpPr txBox="1"/>
          <p:nvPr/>
        </p:nvSpPr>
        <p:spPr>
          <a:xfrm>
            <a:off x="3108960" y="2852928"/>
            <a:ext cx="2651760" cy="320040"/>
          </a:xfrm>
          <a:prstGeom prst="rect">
            <a:avLst/>
          </a:prstGeom>
          <a:noFill/>
          <a:ln/>
        </p:spPr>
        <p:txBody>
          <a:bodyPr wrap="square" lIns="0" tIns="0" rIns="0" bIns="0" rtlCol="0" anchor="t"/>
          <a:lstStyle/>
          <a:p>
            <a:pPr algn="r" indent="0" marL="0">
              <a:buNone/>
            </a:pPr>
            <a:r>
              <a:rPr lang="en-US" sz="1600" b="1" dirty="0">
                <a:solidFill>
                  <a:schemeClr val="accent5"/>
                </a:solidFill>
              </a:rPr>
              <a:t>identical top-3 results</a:t>
            </a:r>
            <a:endParaRPr lang="en-US" sz="1600" dirty="0"/>
          </a:p>
        </p:txBody>
      </p:sp>
      <p:sp>
        <p:nvSpPr>
          <p:cNvPr id="11" name="Dot product card"/>
          <p:cNvSpPr/>
          <p:nvPr/>
        </p:nvSpPr>
        <p:spPr>
          <a:xfrm>
            <a:off x="548640" y="3383280"/>
            <a:ext cx="5394960" cy="566928"/>
          </a:xfrm>
          <a:prstGeom prst="rect">
            <a:avLst/>
          </a:prstGeom>
          <a:solidFill>
            <a:schemeClr val="bg2"/>
          </a:solidFill>
          <a:ln/>
        </p:spPr>
      </p:sp>
      <p:sp>
        <p:nvSpPr>
          <p:cNvPr id="12" name="Text 9"/>
          <p:cNvSpPr txBox="1"/>
          <p:nvPr/>
        </p:nvSpPr>
        <p:spPr>
          <a:xfrm>
            <a:off x="777240" y="3520440"/>
            <a:ext cx="2377440" cy="320040"/>
          </a:xfrm>
          <a:prstGeom prst="rect">
            <a:avLst/>
          </a:prstGeom>
          <a:noFill/>
          <a:ln/>
        </p:spPr>
        <p:txBody>
          <a:bodyPr wrap="square" lIns="0" tIns="0" rIns="0" bIns="0" rtlCol="0" anchor="t"/>
          <a:lstStyle/>
          <a:p>
            <a:pPr indent="0" marL="0">
              <a:buNone/>
            </a:pPr>
            <a:r>
              <a:rPr lang="en-US" sz="1800" b="1" dirty="0">
                <a:solidFill>
                  <a:schemeClr val="tx1"/>
                </a:solidFill>
              </a:rPr>
              <a:t>Dot product</a:t>
            </a:r>
            <a:endParaRPr lang="en-US" sz="1800" dirty="0"/>
          </a:p>
        </p:txBody>
      </p:sp>
      <p:sp>
        <p:nvSpPr>
          <p:cNvPr id="13" name="Text 10"/>
          <p:cNvSpPr txBox="1"/>
          <p:nvPr/>
        </p:nvSpPr>
        <p:spPr>
          <a:xfrm>
            <a:off x="3108960" y="3538728"/>
            <a:ext cx="2651760" cy="320040"/>
          </a:xfrm>
          <a:prstGeom prst="rect">
            <a:avLst/>
          </a:prstGeom>
          <a:noFill/>
          <a:ln/>
        </p:spPr>
        <p:txBody>
          <a:bodyPr wrap="square" lIns="0" tIns="0" rIns="0" bIns="0" rtlCol="0" anchor="t"/>
          <a:lstStyle/>
          <a:p>
            <a:pPr algn="r" indent="0" marL="0">
              <a:buNone/>
            </a:pPr>
            <a:r>
              <a:rPr lang="en-US" sz="1600" b="1" dirty="0">
                <a:solidFill>
                  <a:schemeClr val="accent5"/>
                </a:solidFill>
              </a:rPr>
              <a:t>identical top-3 results</a:t>
            </a:r>
            <a:endParaRPr lang="en-US" sz="1600" dirty="0"/>
          </a:p>
        </p:txBody>
      </p:sp>
      <p:sp>
        <p:nvSpPr>
          <p:cNvPr id="14" name="Why identical"/>
          <p:cNvSpPr/>
          <p:nvPr/>
        </p:nvSpPr>
        <p:spPr>
          <a:xfrm>
            <a:off x="548640" y="4160520"/>
            <a:ext cx="5394960" cy="1920240"/>
          </a:xfrm>
          <a:prstGeom prst="rect">
            <a:avLst/>
          </a:prstGeom>
          <a:solidFill>
            <a:schemeClr val="tx1"/>
          </a:solidFill>
          <a:ln/>
        </p:spPr>
      </p:sp>
      <p:sp>
        <p:nvSpPr>
          <p:cNvPr id="15" name="Text 12"/>
          <p:cNvSpPr txBox="1"/>
          <p:nvPr/>
        </p:nvSpPr>
        <p:spPr>
          <a:xfrm>
            <a:off x="777240" y="4343400"/>
            <a:ext cx="4937760" cy="1600200"/>
          </a:xfrm>
          <a:prstGeom prst="rect">
            <a:avLst/>
          </a:prstGeom>
          <a:noFill/>
          <a:ln/>
        </p:spPr>
        <p:txBody>
          <a:bodyPr wrap="square" lIns="0" tIns="0" rIns="0" bIns="0" rtlCol="0" anchor="t"/>
          <a:lstStyle/>
          <a:p>
            <a:pPr indent="0" marL="0">
              <a:buNone/>
            </a:pPr>
            <a:r>
              <a:rPr lang="en-US" sz="1600" dirty="0">
                <a:solidFill>
                  <a:schemeClr val="bg1"/>
                </a:solidFill>
              </a:rPr>
              <a:t>Why? MiniLM vectors have unit length, so ‖a−b‖² = 2 − 2·cos(a,b) and the dot product equals cosine. We kept cosine: it is what the model was trained for, so nothing breaks if we swap models.</a:t>
            </a:r>
            <a:endParaRPr lang="en-US" sz="1600" dirty="0"/>
          </a:p>
        </p:txBody>
      </p:sp>
      <p:sp>
        <p:nvSpPr>
          <p:cNvPr id="16" name="Embeddings badge"/>
          <p:cNvSpPr/>
          <p:nvPr/>
        </p:nvSpPr>
        <p:spPr>
          <a:xfrm>
            <a:off x="6492240" y="1600200"/>
            <a:ext cx="640080" cy="640080"/>
          </a:xfrm>
          <a:prstGeom prst="ellipse">
            <a:avLst/>
          </a:prstGeom>
          <a:solidFill>
            <a:schemeClr val="accent2"/>
          </a:solidFill>
          <a:ln/>
        </p:spPr>
      </p:sp>
      <p:pic>
        <p:nvPicPr>
          <p:cNvPr id="17" name="Image 0" descr="Embeddings">    </p:cNvPr>
          <p:cNvPicPr>
            <a:picLocks noChangeAspect="1"/>
          </p:cNvPicPr>
          <p:nvPr/>
        </p:nvPicPr>
        <p:blipFill>
          <a:blip r:embed="rId1"/>
          <a:stretch>
            <a:fillRect/>
          </a:stretch>
        </p:blipFill>
        <p:spPr>
          <a:xfrm>
            <a:off x="6652260" y="1760220"/>
            <a:ext cx="320040" cy="320040"/>
          </a:xfrm>
          <a:prstGeom prst="rect">
            <a:avLst/>
          </a:prstGeom>
        </p:spPr>
      </p:pic>
      <p:sp>
        <p:nvSpPr>
          <p:cNvPr id="18" name="Text 14"/>
          <p:cNvSpPr txBox="1"/>
          <p:nvPr/>
        </p:nvSpPr>
        <p:spPr>
          <a:xfrm>
            <a:off x="7360920" y="1581912"/>
            <a:ext cx="4251960" cy="411480"/>
          </a:xfrm>
          <a:prstGeom prst="rect">
            <a:avLst/>
          </a:prstGeom>
          <a:noFill/>
          <a:ln/>
        </p:spPr>
        <p:txBody>
          <a:bodyPr wrap="square" lIns="0" tIns="0" rIns="0" bIns="0" rtlCol="0" anchor="t"/>
          <a:lstStyle/>
          <a:p>
            <a:pPr indent="0" marL="0">
              <a:buNone/>
            </a:pPr>
            <a:r>
              <a:rPr lang="en-US" sz="2000" b="1" dirty="0">
                <a:solidFill>
                  <a:schemeClr val="tx1"/>
                </a:solidFill>
              </a:rPr>
              <a:t>Embeddings</a:t>
            </a:r>
            <a:endParaRPr lang="en-US" sz="2000" dirty="0"/>
          </a:p>
        </p:txBody>
      </p:sp>
      <p:sp>
        <p:nvSpPr>
          <p:cNvPr id="19" name="Text 15"/>
          <p:cNvSpPr txBox="1"/>
          <p:nvPr/>
        </p:nvSpPr>
        <p:spPr>
          <a:xfrm>
            <a:off x="7360920" y="2011680"/>
            <a:ext cx="4251960" cy="640080"/>
          </a:xfrm>
          <a:prstGeom prst="rect">
            <a:avLst/>
          </a:prstGeom>
          <a:noFill/>
          <a:ln/>
        </p:spPr>
        <p:txBody>
          <a:bodyPr wrap="square" lIns="0" tIns="0" rIns="0" bIns="0" rtlCol="0" anchor="t"/>
          <a:lstStyle/>
          <a:p>
            <a:pPr indent="0" marL="0">
              <a:buNone/>
            </a:pPr>
            <a:r>
              <a:rPr lang="en-US" sz="1600" dirty="0">
                <a:solidFill>
                  <a:schemeClr val="tx1"/>
                </a:solidFill>
              </a:rPr>
              <a:t>all-MiniLM-L6-v2: open-source, local, 384 numbers per chunk.</a:t>
            </a:r>
            <a:endParaRPr lang="en-US" sz="1600" dirty="0"/>
          </a:p>
        </p:txBody>
      </p:sp>
      <p:sp>
        <p:nvSpPr>
          <p:cNvPr id="20" name="Vector store badge"/>
          <p:cNvSpPr/>
          <p:nvPr/>
        </p:nvSpPr>
        <p:spPr>
          <a:xfrm>
            <a:off x="6492240" y="2743200"/>
            <a:ext cx="640080" cy="640080"/>
          </a:xfrm>
          <a:prstGeom prst="ellipse">
            <a:avLst/>
          </a:prstGeom>
          <a:solidFill>
            <a:schemeClr val="accent2"/>
          </a:solidFill>
          <a:ln/>
        </p:spPr>
      </p:sp>
      <p:pic>
        <p:nvPicPr>
          <p:cNvPr id="21" name="Image 1" descr="Vector store">    </p:cNvPr>
          <p:cNvPicPr>
            <a:picLocks noChangeAspect="1"/>
          </p:cNvPicPr>
          <p:nvPr/>
        </p:nvPicPr>
        <p:blipFill>
          <a:blip r:embed="rId2"/>
          <a:stretch>
            <a:fillRect/>
          </a:stretch>
        </p:blipFill>
        <p:spPr>
          <a:xfrm>
            <a:off x="6652260" y="2903220"/>
            <a:ext cx="320040" cy="320040"/>
          </a:xfrm>
          <a:prstGeom prst="rect">
            <a:avLst/>
          </a:prstGeom>
        </p:spPr>
      </p:pic>
      <p:sp>
        <p:nvSpPr>
          <p:cNvPr id="22" name="Text 17"/>
          <p:cNvSpPr txBox="1"/>
          <p:nvPr/>
        </p:nvSpPr>
        <p:spPr>
          <a:xfrm>
            <a:off x="7360920" y="2724912"/>
            <a:ext cx="4251960" cy="411480"/>
          </a:xfrm>
          <a:prstGeom prst="rect">
            <a:avLst/>
          </a:prstGeom>
          <a:noFill/>
          <a:ln/>
        </p:spPr>
        <p:txBody>
          <a:bodyPr wrap="square" lIns="0" tIns="0" rIns="0" bIns="0" rtlCol="0" anchor="t"/>
          <a:lstStyle/>
          <a:p>
            <a:pPr indent="0" marL="0">
              <a:buNone/>
            </a:pPr>
            <a:r>
              <a:rPr lang="en-US" sz="2000" b="1" dirty="0">
                <a:solidFill>
                  <a:schemeClr val="tx1"/>
                </a:solidFill>
              </a:rPr>
              <a:t>Vector store</a:t>
            </a:r>
            <a:endParaRPr lang="en-US" sz="2000" dirty="0"/>
          </a:p>
        </p:txBody>
      </p:sp>
      <p:sp>
        <p:nvSpPr>
          <p:cNvPr id="23" name="Text 18"/>
          <p:cNvSpPr txBox="1"/>
          <p:nvPr/>
        </p:nvSpPr>
        <p:spPr>
          <a:xfrm>
            <a:off x="7360920" y="3154680"/>
            <a:ext cx="4251960" cy="640080"/>
          </a:xfrm>
          <a:prstGeom prst="rect">
            <a:avLst/>
          </a:prstGeom>
          <a:noFill/>
          <a:ln/>
        </p:spPr>
        <p:txBody>
          <a:bodyPr wrap="square" lIns="0" tIns="0" rIns="0" bIns="0" rtlCol="0" anchor="t"/>
          <a:lstStyle/>
          <a:p>
            <a:pPr indent="0" marL="0">
              <a:buNone/>
            </a:pPr>
            <a:r>
              <a:rPr lang="en-US" sz="1600" dirty="0">
                <a:solidFill>
                  <a:schemeClr val="tx1"/>
                </a:solidFill>
              </a:rPr>
              <a:t>Chroma, persistent on disk, cosine space.</a:t>
            </a:r>
            <a:endParaRPr lang="en-US" sz="1600" dirty="0"/>
          </a:p>
        </p:txBody>
      </p:sp>
      <p:sp>
        <p:nvSpPr>
          <p:cNvPr id="24" name="Retrieval badge"/>
          <p:cNvSpPr/>
          <p:nvPr/>
        </p:nvSpPr>
        <p:spPr>
          <a:xfrm>
            <a:off x="6492240" y="3886200"/>
            <a:ext cx="640080" cy="640080"/>
          </a:xfrm>
          <a:prstGeom prst="ellipse">
            <a:avLst/>
          </a:prstGeom>
          <a:solidFill>
            <a:schemeClr val="accent2"/>
          </a:solidFill>
          <a:ln/>
        </p:spPr>
      </p:sp>
      <p:pic>
        <p:nvPicPr>
          <p:cNvPr id="25" name="Image 2" descr="Retrieval">    </p:cNvPr>
          <p:cNvPicPr>
            <a:picLocks noChangeAspect="1"/>
          </p:cNvPicPr>
          <p:nvPr/>
        </p:nvPicPr>
        <p:blipFill>
          <a:blip r:embed="rId3"/>
          <a:stretch>
            <a:fillRect/>
          </a:stretch>
        </p:blipFill>
        <p:spPr>
          <a:xfrm>
            <a:off x="6652260" y="4046220"/>
            <a:ext cx="320040" cy="320040"/>
          </a:xfrm>
          <a:prstGeom prst="rect">
            <a:avLst/>
          </a:prstGeom>
        </p:spPr>
      </p:pic>
      <p:sp>
        <p:nvSpPr>
          <p:cNvPr id="26" name="Text 20"/>
          <p:cNvSpPr txBox="1"/>
          <p:nvPr/>
        </p:nvSpPr>
        <p:spPr>
          <a:xfrm>
            <a:off x="7360920" y="3867912"/>
            <a:ext cx="4251960" cy="411480"/>
          </a:xfrm>
          <a:prstGeom prst="rect">
            <a:avLst/>
          </a:prstGeom>
          <a:noFill/>
          <a:ln/>
        </p:spPr>
        <p:txBody>
          <a:bodyPr wrap="square" lIns="0" tIns="0" rIns="0" bIns="0" rtlCol="0" anchor="t"/>
          <a:lstStyle/>
          <a:p>
            <a:pPr indent="0" marL="0">
              <a:buNone/>
            </a:pPr>
            <a:r>
              <a:rPr lang="en-US" sz="2000" b="1" dirty="0">
                <a:solidFill>
                  <a:schemeClr val="tx1"/>
                </a:solidFill>
              </a:rPr>
              <a:t>Retrieval</a:t>
            </a:r>
            <a:endParaRPr lang="en-US" sz="2000" dirty="0"/>
          </a:p>
        </p:txBody>
      </p:sp>
      <p:sp>
        <p:nvSpPr>
          <p:cNvPr id="27" name="Text 21"/>
          <p:cNvSpPr txBox="1"/>
          <p:nvPr/>
        </p:nvSpPr>
        <p:spPr>
          <a:xfrm>
            <a:off x="7360920" y="4297680"/>
            <a:ext cx="4251960" cy="640080"/>
          </a:xfrm>
          <a:prstGeom prst="rect">
            <a:avLst/>
          </a:prstGeom>
          <a:noFill/>
          <a:ln/>
        </p:spPr>
        <p:txBody>
          <a:bodyPr wrap="square" lIns="0" tIns="0" rIns="0" bIns="0" rtlCol="0" anchor="t"/>
          <a:lstStyle/>
          <a:p>
            <a:pPr indent="0" marL="0">
              <a:buNone/>
            </a:pPr>
            <a:r>
              <a:rPr lang="en-US" sz="1600" dirty="0">
                <a:solidFill>
                  <a:schemeClr val="tx1"/>
                </a:solidFill>
              </a:rPr>
              <a:t>Top 4 most similar chunks per question.</a:t>
            </a:r>
            <a:endParaRPr lang="en-US" sz="1600" dirty="0"/>
          </a:p>
        </p:txBody>
      </p:sp>
      <p:sp>
        <p:nvSpPr>
          <p:cNvPr id="28" name="Framework badge"/>
          <p:cNvSpPr/>
          <p:nvPr/>
        </p:nvSpPr>
        <p:spPr>
          <a:xfrm>
            <a:off x="6492240" y="5029200"/>
            <a:ext cx="640080" cy="640080"/>
          </a:xfrm>
          <a:prstGeom prst="ellipse">
            <a:avLst/>
          </a:prstGeom>
          <a:solidFill>
            <a:schemeClr val="accent2"/>
          </a:solidFill>
          <a:ln/>
        </p:spPr>
      </p:sp>
      <p:pic>
        <p:nvPicPr>
          <p:cNvPr id="29" name="Image 3" descr="Framework">    </p:cNvPr>
          <p:cNvPicPr>
            <a:picLocks noChangeAspect="1"/>
          </p:cNvPicPr>
          <p:nvPr/>
        </p:nvPicPr>
        <p:blipFill>
          <a:blip r:embed="rId4"/>
          <a:stretch>
            <a:fillRect/>
          </a:stretch>
        </p:blipFill>
        <p:spPr>
          <a:xfrm>
            <a:off x="6652260" y="5189220"/>
            <a:ext cx="320040" cy="320040"/>
          </a:xfrm>
          <a:prstGeom prst="rect">
            <a:avLst/>
          </a:prstGeom>
        </p:spPr>
      </p:pic>
      <p:sp>
        <p:nvSpPr>
          <p:cNvPr id="30" name="Text 23"/>
          <p:cNvSpPr txBox="1"/>
          <p:nvPr/>
        </p:nvSpPr>
        <p:spPr>
          <a:xfrm>
            <a:off x="7360920" y="5010912"/>
            <a:ext cx="4251960" cy="411480"/>
          </a:xfrm>
          <a:prstGeom prst="rect">
            <a:avLst/>
          </a:prstGeom>
          <a:noFill/>
          <a:ln/>
        </p:spPr>
        <p:txBody>
          <a:bodyPr wrap="square" lIns="0" tIns="0" rIns="0" bIns="0" rtlCol="0" anchor="t"/>
          <a:lstStyle/>
          <a:p>
            <a:pPr indent="0" marL="0">
              <a:buNone/>
            </a:pPr>
            <a:r>
              <a:rPr lang="en-US" sz="2000" b="1" dirty="0">
                <a:solidFill>
                  <a:schemeClr val="tx1"/>
                </a:solidFill>
              </a:rPr>
              <a:t>Framework</a:t>
            </a:r>
            <a:endParaRPr lang="en-US" sz="2000" dirty="0"/>
          </a:p>
        </p:txBody>
      </p:sp>
      <p:sp>
        <p:nvSpPr>
          <p:cNvPr id="31" name="Text 24"/>
          <p:cNvSpPr txBox="1"/>
          <p:nvPr/>
        </p:nvSpPr>
        <p:spPr>
          <a:xfrm>
            <a:off x="7360920" y="5440680"/>
            <a:ext cx="4251960" cy="640080"/>
          </a:xfrm>
          <a:prstGeom prst="rect">
            <a:avLst/>
          </a:prstGeom>
          <a:noFill/>
          <a:ln/>
        </p:spPr>
        <p:txBody>
          <a:bodyPr wrap="square" lIns="0" tIns="0" rIns="0" bIns="0" rtlCol="0" anchor="t"/>
          <a:lstStyle/>
          <a:p>
            <a:pPr indent="0" marL="0">
              <a:buNone/>
            </a:pPr>
            <a:r>
              <a:rPr lang="en-US" sz="1600" dirty="0">
                <a:solidFill>
                  <a:schemeClr val="tx1"/>
                </a:solidFill>
              </a:rPr>
              <a:t>LangChain: reuses our index. LlamaIndex tested, same accuracy.</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Two tricks make follow-ups and terms work</a:t>
            </a:r>
            <a:endParaRPr lang="en-US" sz="3600" dirty="0"/>
          </a:p>
        </p:txBody>
      </p:sp>
      <p:sp>
        <p:nvSpPr>
          <p:cNvPr id="4" name="Conversation memory card"/>
          <p:cNvSpPr/>
          <p:nvPr/>
        </p:nvSpPr>
        <p:spPr>
          <a:xfrm>
            <a:off x="548640" y="1554480"/>
            <a:ext cx="5394960" cy="4526280"/>
          </a:xfrm>
          <a:prstGeom prst="rect">
            <a:avLst/>
          </a:prstGeom>
          <a:solidFill>
            <a:schemeClr val="bg2"/>
          </a:solidFill>
          <a:ln/>
        </p:spPr>
      </p:sp>
      <p:sp>
        <p:nvSpPr>
          <p:cNvPr id="5" name="Conversation memory badge"/>
          <p:cNvSpPr/>
          <p:nvPr/>
        </p:nvSpPr>
        <p:spPr>
          <a:xfrm>
            <a:off x="822960" y="1783080"/>
            <a:ext cx="640080" cy="640080"/>
          </a:xfrm>
          <a:prstGeom prst="ellipse">
            <a:avLst/>
          </a:prstGeom>
          <a:solidFill>
            <a:schemeClr val="accent2"/>
          </a:solidFill>
          <a:ln/>
        </p:spPr>
      </p:sp>
      <p:pic>
        <p:nvPicPr>
          <p:cNvPr id="6" name="Image 0" descr="Conversation memory">    </p:cNvPr>
          <p:cNvPicPr>
            <a:picLocks noChangeAspect="1"/>
          </p:cNvPicPr>
          <p:nvPr/>
        </p:nvPicPr>
        <p:blipFill>
          <a:blip r:embed="rId1"/>
          <a:stretch>
            <a:fillRect/>
          </a:stretch>
        </p:blipFill>
        <p:spPr>
          <a:xfrm>
            <a:off x="982980" y="1943100"/>
            <a:ext cx="320040" cy="320040"/>
          </a:xfrm>
          <a:prstGeom prst="rect">
            <a:avLst/>
          </a:prstGeom>
        </p:spPr>
      </p:pic>
      <p:sp>
        <p:nvSpPr>
          <p:cNvPr id="7" name="Text 3"/>
          <p:cNvSpPr txBox="1"/>
          <p:nvPr/>
        </p:nvSpPr>
        <p:spPr>
          <a:xfrm>
            <a:off x="1645920" y="1874520"/>
            <a:ext cx="4023360" cy="457200"/>
          </a:xfrm>
          <a:prstGeom prst="rect">
            <a:avLst/>
          </a:prstGeom>
          <a:noFill/>
          <a:ln/>
        </p:spPr>
        <p:txBody>
          <a:bodyPr wrap="square" lIns="0" tIns="0" rIns="0" bIns="0" rtlCol="0" anchor="t"/>
          <a:lstStyle/>
          <a:p>
            <a:pPr indent="0" marL="0">
              <a:buNone/>
            </a:pPr>
            <a:r>
              <a:rPr lang="en-US" sz="2200" b="1" dirty="0">
                <a:solidFill>
                  <a:schemeClr val="tx1"/>
                </a:solidFill>
              </a:rPr>
              <a:t>Conversation memory</a:t>
            </a:r>
            <a:endParaRPr lang="en-US" sz="2200" dirty="0"/>
          </a:p>
        </p:txBody>
      </p:sp>
      <p:sp>
        <p:nvSpPr>
          <p:cNvPr id="8" name="Student follow-up"/>
          <p:cNvSpPr/>
          <p:nvPr/>
        </p:nvSpPr>
        <p:spPr>
          <a:xfrm>
            <a:off x="822960" y="2743200"/>
            <a:ext cx="4846320" cy="640080"/>
          </a:xfrm>
          <a:prstGeom prst="rect">
            <a:avLst/>
          </a:prstGeom>
          <a:solidFill>
            <a:schemeClr val="bg1"/>
          </a:solidFill>
          <a:ln/>
        </p:spPr>
      </p:sp>
      <p:sp>
        <p:nvSpPr>
          <p:cNvPr id="9" name="Text 5"/>
          <p:cNvSpPr txBox="1"/>
          <p:nvPr/>
        </p:nvSpPr>
        <p:spPr>
          <a:xfrm>
            <a:off x="1005840" y="2880360"/>
            <a:ext cx="4480560" cy="365760"/>
          </a:xfrm>
          <a:prstGeom prst="rect">
            <a:avLst/>
          </a:prstGeom>
          <a:noFill/>
          <a:ln/>
        </p:spPr>
        <p:txBody>
          <a:bodyPr wrap="square" lIns="0" tIns="0" rIns="0" bIns="0" rtlCol="0" anchor="t"/>
          <a:lstStyle/>
          <a:p>
            <a:pPr indent="0" marL="0">
              <a:buNone/>
            </a:pPr>
            <a:r>
              <a:rPr lang="en-US" sz="1600" dirty="0">
                <a:solidFill>
                  <a:schemeClr val="tx1"/>
                </a:solidFill>
              </a:rPr>
              <a:t>Student: “How many units is it?”</a:t>
            </a:r>
            <a:endParaRPr lang="en-US" sz="1600" dirty="0"/>
          </a:p>
        </p:txBody>
      </p:sp>
      <p:sp>
        <p:nvSpPr>
          <p:cNvPr id="10" name="Shape 6"/>
          <p:cNvSpPr/>
          <p:nvPr/>
        </p:nvSpPr>
        <p:spPr>
          <a:xfrm>
            <a:off x="3246120" y="3429000"/>
            <a:ext cx="0" cy="411480"/>
          </a:xfrm>
          <a:prstGeom prst="line">
            <a:avLst/>
          </a:prstGeom>
          <a:noFill/>
          <a:ln w="31750">
            <a:solidFill>
              <a:schemeClr val="accent6"/>
            </a:solidFill>
            <a:prstDash val="solid"/>
            <a:tailEnd type="triangle"/>
          </a:ln>
        </p:spPr>
      </p:sp>
      <p:sp>
        <p:nvSpPr>
          <p:cNvPr id="11" name="Rewritten question"/>
          <p:cNvSpPr/>
          <p:nvPr/>
        </p:nvSpPr>
        <p:spPr>
          <a:xfrm>
            <a:off x="822960" y="3703320"/>
            <a:ext cx="4846320" cy="914400"/>
          </a:xfrm>
          <a:prstGeom prst="rect">
            <a:avLst/>
          </a:prstGeom>
          <a:solidFill>
            <a:schemeClr val="accent2"/>
          </a:solidFill>
          <a:ln/>
        </p:spPr>
      </p:sp>
      <p:sp>
        <p:nvSpPr>
          <p:cNvPr id="12" name="Text 8"/>
          <p:cNvSpPr txBox="1"/>
          <p:nvPr/>
        </p:nvSpPr>
        <p:spPr>
          <a:xfrm>
            <a:off x="1005840" y="3794760"/>
            <a:ext cx="4480560" cy="731520"/>
          </a:xfrm>
          <a:prstGeom prst="rect">
            <a:avLst/>
          </a:prstGeom>
          <a:noFill/>
          <a:ln/>
        </p:spPr>
        <p:txBody>
          <a:bodyPr wrap="square" lIns="0" tIns="0" rIns="0" bIns="0" rtlCol="0" anchor="ctr"/>
          <a:lstStyle/>
          <a:p>
            <a:pPr indent="0" marL="0">
              <a:buNone/>
            </a:pPr>
            <a:r>
              <a:rPr lang="en-US" sz="1600" dirty="0">
                <a:solidFill>
                  <a:schemeClr val="bg1"/>
                </a:solidFill>
              </a:rPr>
              <a:t>Rewritten: “How many units is IS 104 System Analysis &amp; Design?”</a:t>
            </a:r>
            <a:endParaRPr lang="en-US" sz="1600" dirty="0"/>
          </a:p>
        </p:txBody>
      </p:sp>
      <p:sp>
        <p:nvSpPr>
          <p:cNvPr id="13" name="Text 9"/>
          <p:cNvSpPr txBox="1"/>
          <p:nvPr/>
        </p:nvSpPr>
        <p:spPr>
          <a:xfrm>
            <a:off x="822960" y="4892040"/>
            <a:ext cx="4846320" cy="914400"/>
          </a:xfrm>
          <a:prstGeom prst="rect">
            <a:avLst/>
          </a:prstGeom>
          <a:noFill/>
          <a:ln/>
        </p:spPr>
        <p:txBody>
          <a:bodyPr wrap="square" lIns="0" tIns="0" rIns="0" bIns="0" rtlCol="0" anchor="t"/>
          <a:lstStyle/>
          <a:p>
            <a:pPr indent="0" marL="0">
              <a:buNone/>
            </a:pPr>
            <a:r>
              <a:rPr lang="en-US" sz="1400" dirty="0">
                <a:solidFill>
                  <a:schemeClr val="tx1"/>
                </a:solidFill>
              </a:rPr>
              <a:t>One extra LLM call; the standalone question is used for retrieval and for the answer.</a:t>
            </a:r>
            <a:endParaRPr lang="en-US" sz="1400" dirty="0"/>
          </a:p>
        </p:txBody>
      </p:sp>
      <p:sp>
        <p:nvSpPr>
          <p:cNvPr id="14" name="Year and semester filter card"/>
          <p:cNvSpPr/>
          <p:nvPr/>
        </p:nvSpPr>
        <p:spPr>
          <a:xfrm>
            <a:off x="6217920" y="1554480"/>
            <a:ext cx="5394960" cy="4526280"/>
          </a:xfrm>
          <a:prstGeom prst="rect">
            <a:avLst/>
          </a:prstGeom>
          <a:solidFill>
            <a:schemeClr val="bg2"/>
          </a:solidFill>
          <a:ln/>
        </p:spPr>
      </p:sp>
      <p:sp>
        <p:nvSpPr>
          <p:cNvPr id="15" name="Year and semester filter badge"/>
          <p:cNvSpPr/>
          <p:nvPr/>
        </p:nvSpPr>
        <p:spPr>
          <a:xfrm>
            <a:off x="6492240" y="1783080"/>
            <a:ext cx="640080" cy="640080"/>
          </a:xfrm>
          <a:prstGeom prst="ellipse">
            <a:avLst/>
          </a:prstGeom>
          <a:solidFill>
            <a:schemeClr val="accent2"/>
          </a:solidFill>
          <a:ln/>
        </p:spPr>
      </p:sp>
      <p:pic>
        <p:nvPicPr>
          <p:cNvPr id="16" name="Image 1" descr="Year and semester filter">    </p:cNvPr>
          <p:cNvPicPr>
            <a:picLocks noChangeAspect="1"/>
          </p:cNvPicPr>
          <p:nvPr/>
        </p:nvPicPr>
        <p:blipFill>
          <a:blip r:embed="rId2"/>
          <a:stretch>
            <a:fillRect/>
          </a:stretch>
        </p:blipFill>
        <p:spPr>
          <a:xfrm>
            <a:off x="6652260" y="1943100"/>
            <a:ext cx="320040" cy="320040"/>
          </a:xfrm>
          <a:prstGeom prst="rect">
            <a:avLst/>
          </a:prstGeom>
        </p:spPr>
      </p:pic>
      <p:sp>
        <p:nvSpPr>
          <p:cNvPr id="17" name="Text 12"/>
          <p:cNvSpPr txBox="1"/>
          <p:nvPr/>
        </p:nvSpPr>
        <p:spPr>
          <a:xfrm>
            <a:off x="7315200" y="1874520"/>
            <a:ext cx="4023360" cy="457200"/>
          </a:xfrm>
          <a:prstGeom prst="rect">
            <a:avLst/>
          </a:prstGeom>
          <a:noFill/>
          <a:ln/>
        </p:spPr>
        <p:txBody>
          <a:bodyPr wrap="square" lIns="0" tIns="0" rIns="0" bIns="0" rtlCol="0" anchor="t"/>
          <a:lstStyle/>
          <a:p>
            <a:pPr indent="0" marL="0">
              <a:buNone/>
            </a:pPr>
            <a:r>
              <a:rPr lang="en-US" sz="2200" b="1" dirty="0">
                <a:solidFill>
                  <a:schemeClr val="tx1"/>
                </a:solidFill>
              </a:rPr>
              <a:t>Year and semester filter</a:t>
            </a:r>
            <a:endParaRPr lang="en-US" sz="2200" dirty="0"/>
          </a:p>
        </p:txBody>
      </p:sp>
      <p:sp>
        <p:nvSpPr>
          <p:cNvPr id="18" name="Student question"/>
          <p:cNvSpPr/>
          <p:nvPr/>
        </p:nvSpPr>
        <p:spPr>
          <a:xfrm>
            <a:off x="6492240" y="2743200"/>
            <a:ext cx="4846320" cy="640080"/>
          </a:xfrm>
          <a:prstGeom prst="rect">
            <a:avLst/>
          </a:prstGeom>
          <a:solidFill>
            <a:schemeClr val="bg1"/>
          </a:solidFill>
          <a:ln/>
        </p:spPr>
      </p:sp>
      <p:sp>
        <p:nvSpPr>
          <p:cNvPr id="19" name="Text 14"/>
          <p:cNvSpPr txBox="1"/>
          <p:nvPr/>
        </p:nvSpPr>
        <p:spPr>
          <a:xfrm>
            <a:off x="6675120" y="2880360"/>
            <a:ext cx="4480560" cy="365760"/>
          </a:xfrm>
          <a:prstGeom prst="rect">
            <a:avLst/>
          </a:prstGeom>
          <a:noFill/>
          <a:ln/>
        </p:spPr>
        <p:txBody>
          <a:bodyPr wrap="square" lIns="0" tIns="0" rIns="0" bIns="0" rtlCol="0" anchor="t"/>
          <a:lstStyle/>
          <a:p>
            <a:pPr indent="0" marL="0">
              <a:buNone/>
            </a:pPr>
            <a:r>
              <a:rPr lang="en-US" sz="1600" dirty="0">
                <a:solidFill>
                  <a:schemeClr val="tx1"/>
                </a:solidFill>
              </a:rPr>
              <a:t>“Subjects in first year first semester?”</a:t>
            </a:r>
            <a:endParaRPr lang="en-US" sz="1600" dirty="0"/>
          </a:p>
        </p:txBody>
      </p:sp>
      <p:sp>
        <p:nvSpPr>
          <p:cNvPr id="20" name="Shape 15"/>
          <p:cNvSpPr/>
          <p:nvPr/>
        </p:nvSpPr>
        <p:spPr>
          <a:xfrm>
            <a:off x="8915400" y="3429000"/>
            <a:ext cx="0" cy="411480"/>
          </a:xfrm>
          <a:prstGeom prst="line">
            <a:avLst/>
          </a:prstGeom>
          <a:noFill/>
          <a:ln w="31750">
            <a:solidFill>
              <a:schemeClr val="accent6"/>
            </a:solidFill>
            <a:prstDash val="solid"/>
            <a:tailEnd type="triangle"/>
          </a:ln>
        </p:spPr>
      </p:sp>
      <p:sp>
        <p:nvSpPr>
          <p:cNvPr id="21" name="Metadata filter"/>
          <p:cNvSpPr/>
          <p:nvPr/>
        </p:nvSpPr>
        <p:spPr>
          <a:xfrm>
            <a:off x="6492240" y="3703320"/>
            <a:ext cx="4846320" cy="914400"/>
          </a:xfrm>
          <a:prstGeom prst="rect">
            <a:avLst/>
          </a:prstGeom>
          <a:solidFill>
            <a:schemeClr val="accent2"/>
          </a:solidFill>
          <a:ln/>
        </p:spPr>
      </p:sp>
      <p:sp>
        <p:nvSpPr>
          <p:cNvPr id="22" name="Text 17"/>
          <p:cNvSpPr txBox="1"/>
          <p:nvPr/>
        </p:nvSpPr>
        <p:spPr>
          <a:xfrm>
            <a:off x="6675120" y="3794760"/>
            <a:ext cx="4480560" cy="731520"/>
          </a:xfrm>
          <a:prstGeom prst="rect">
            <a:avLst/>
          </a:prstGeom>
          <a:noFill/>
          <a:ln/>
        </p:spPr>
        <p:txBody>
          <a:bodyPr wrap="square" lIns="0" tIns="0" rIns="0" bIns="0" rtlCol="0" anchor="ctr"/>
          <a:lstStyle/>
          <a:p>
            <a:pPr indent="0" marL="0">
              <a:buNone/>
            </a:pPr>
            <a:r>
              <a:rPr lang="en-US" sz="1600" b="1" dirty="0">
                <a:solidFill>
                  <a:schemeClr val="bg1"/>
                </a:solidFill>
              </a:rPr>
              <a:t>Filter: year = 1 AND semester = 1</a:t>
            </a:r>
            <a:endParaRPr lang="en-US" sz="1600" dirty="0"/>
          </a:p>
        </p:txBody>
      </p:sp>
      <p:sp>
        <p:nvSpPr>
          <p:cNvPr id="23" name="Text 18"/>
          <p:cNvSpPr txBox="1"/>
          <p:nvPr/>
        </p:nvSpPr>
        <p:spPr>
          <a:xfrm>
            <a:off x="6492240" y="4892040"/>
            <a:ext cx="4846320" cy="914400"/>
          </a:xfrm>
          <a:prstGeom prst="rect">
            <a:avLst/>
          </a:prstGeom>
          <a:noFill/>
          <a:ln/>
        </p:spPr>
        <p:txBody>
          <a:bodyPr wrap="square" lIns="0" tIns="0" rIns="0" bIns="0" rtlCol="0" anchor="t"/>
          <a:lstStyle/>
          <a:p>
            <a:pPr indent="0" marL="0">
              <a:buNone/>
            </a:pPr>
            <a:r>
              <a:rPr lang="en-US" sz="1400" dirty="0">
                <a:solidFill>
                  <a:schemeClr val="tx1"/>
                </a:solidFill>
              </a:rPr>
              <a:t>Eight term files have near-identical headers, so similarity alone cannot tell them apart.</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One prompt, five rules, built to refuse</a:t>
            </a:r>
            <a:endParaRPr lang="en-US" sz="3600" dirty="0"/>
          </a:p>
        </p:txBody>
      </p:sp>
      <p:sp>
        <p:nvSpPr>
          <p:cNvPr id="4" name="Rule 1 badge"/>
          <p:cNvSpPr/>
          <p:nvPr/>
        </p:nvSpPr>
        <p:spPr>
          <a:xfrm>
            <a:off x="548640" y="1554480"/>
            <a:ext cx="594360" cy="594360"/>
          </a:xfrm>
          <a:prstGeom prst="ellipse">
            <a:avLst/>
          </a:prstGeom>
          <a:solidFill>
            <a:schemeClr val="accent1"/>
          </a:solidFill>
          <a:ln/>
        </p:spPr>
      </p:sp>
      <p:sp>
        <p:nvSpPr>
          <p:cNvPr id="5" name="Text 2"/>
          <p:cNvSpPr txBox="1"/>
          <p:nvPr/>
        </p:nvSpPr>
        <p:spPr>
          <a:xfrm>
            <a:off x="548640" y="1554480"/>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6" name="Text 3"/>
          <p:cNvSpPr txBox="1"/>
          <p:nvPr/>
        </p:nvSpPr>
        <p:spPr>
          <a:xfrm>
            <a:off x="1371600" y="1554480"/>
            <a:ext cx="5852160" cy="731520"/>
          </a:xfrm>
          <a:prstGeom prst="rect">
            <a:avLst/>
          </a:prstGeom>
          <a:noFill/>
          <a:ln/>
        </p:spPr>
        <p:txBody>
          <a:bodyPr wrap="square" lIns="0" tIns="0" rIns="0" bIns="0" rtlCol="0" anchor="ctr"/>
          <a:lstStyle/>
          <a:p>
            <a:pPr indent="0" marL="0">
              <a:buNone/>
            </a:pPr>
            <a:r>
              <a:rPr lang="en-US" sz="1800" dirty="0">
                <a:solidFill>
                  <a:schemeClr val="tx1"/>
                </a:solidFill>
              </a:rPr>
              <a:t>Refuse off-topic questions in one sentence</a:t>
            </a:r>
            <a:endParaRPr lang="en-US" sz="1800" dirty="0"/>
          </a:p>
        </p:txBody>
      </p:sp>
      <p:sp>
        <p:nvSpPr>
          <p:cNvPr id="7" name="Rule 2 badge"/>
          <p:cNvSpPr/>
          <p:nvPr/>
        </p:nvSpPr>
        <p:spPr>
          <a:xfrm>
            <a:off x="548640" y="2404872"/>
            <a:ext cx="594360" cy="594360"/>
          </a:xfrm>
          <a:prstGeom prst="ellipse">
            <a:avLst/>
          </a:prstGeom>
          <a:solidFill>
            <a:schemeClr val="accent1"/>
          </a:solidFill>
          <a:ln/>
        </p:spPr>
      </p:sp>
      <p:sp>
        <p:nvSpPr>
          <p:cNvPr id="8" name="Text 5"/>
          <p:cNvSpPr txBox="1"/>
          <p:nvPr/>
        </p:nvSpPr>
        <p:spPr>
          <a:xfrm>
            <a:off x="548640" y="2404872"/>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9" name="Text 6"/>
          <p:cNvSpPr txBox="1"/>
          <p:nvPr/>
        </p:nvSpPr>
        <p:spPr>
          <a:xfrm>
            <a:off x="1371600" y="2404872"/>
            <a:ext cx="5852160" cy="731520"/>
          </a:xfrm>
          <a:prstGeom prst="rect">
            <a:avLst/>
          </a:prstGeom>
          <a:noFill/>
          <a:ln/>
        </p:spPr>
        <p:txBody>
          <a:bodyPr wrap="square" lIns="0" tIns="0" rIns="0" bIns="0" rtlCol="0" anchor="ctr"/>
          <a:lstStyle/>
          <a:p>
            <a:pPr indent="0" marL="0">
              <a:buNone/>
            </a:pPr>
            <a:r>
              <a:rPr lang="en-US" sz="1800" dirty="0">
                <a:solidFill>
                  <a:schemeClr val="tx1"/>
                </a:solidFill>
              </a:rPr>
              <a:t>Answer only from the retrieved context; otherwise say “I don’t have that information”</a:t>
            </a:r>
            <a:endParaRPr lang="en-US" sz="1800" dirty="0"/>
          </a:p>
        </p:txBody>
      </p:sp>
      <p:sp>
        <p:nvSpPr>
          <p:cNvPr id="10" name="Rule 3 badge"/>
          <p:cNvSpPr/>
          <p:nvPr/>
        </p:nvSpPr>
        <p:spPr>
          <a:xfrm>
            <a:off x="548640" y="3255264"/>
            <a:ext cx="594360" cy="594360"/>
          </a:xfrm>
          <a:prstGeom prst="ellipse">
            <a:avLst/>
          </a:prstGeom>
          <a:solidFill>
            <a:schemeClr val="accent1"/>
          </a:solidFill>
          <a:ln/>
        </p:spPr>
      </p:sp>
      <p:sp>
        <p:nvSpPr>
          <p:cNvPr id="11" name="Text 8"/>
          <p:cNvSpPr txBox="1"/>
          <p:nvPr/>
        </p:nvSpPr>
        <p:spPr>
          <a:xfrm>
            <a:off x="548640" y="3255264"/>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12" name="Text 9"/>
          <p:cNvSpPr txBox="1"/>
          <p:nvPr/>
        </p:nvSpPr>
        <p:spPr>
          <a:xfrm>
            <a:off x="1371600" y="3255264"/>
            <a:ext cx="5852160" cy="731520"/>
          </a:xfrm>
          <a:prstGeom prst="rect">
            <a:avLst/>
          </a:prstGeom>
          <a:noFill/>
          <a:ln/>
        </p:spPr>
        <p:txBody>
          <a:bodyPr wrap="square" lIns="0" tIns="0" rIns="0" bIns="0" rtlCol="0" anchor="ctr"/>
          <a:lstStyle/>
          <a:p>
            <a:pPr indent="0" marL="0">
              <a:buNone/>
            </a:pPr>
            <a:r>
              <a:rPr lang="en-US" sz="1800" dirty="0">
                <a:solidFill>
                  <a:schemeClr val="tx1"/>
                </a:solidFill>
              </a:rPr>
              <a:t>Never invent course codes or unit counts</a:t>
            </a:r>
            <a:endParaRPr lang="en-US" sz="1800" dirty="0"/>
          </a:p>
        </p:txBody>
      </p:sp>
      <p:sp>
        <p:nvSpPr>
          <p:cNvPr id="13" name="Rule 4 badge"/>
          <p:cNvSpPr/>
          <p:nvPr/>
        </p:nvSpPr>
        <p:spPr>
          <a:xfrm>
            <a:off x="548640" y="4105656"/>
            <a:ext cx="594360" cy="594360"/>
          </a:xfrm>
          <a:prstGeom prst="ellipse">
            <a:avLst/>
          </a:prstGeom>
          <a:solidFill>
            <a:schemeClr val="accent1"/>
          </a:solidFill>
          <a:ln/>
        </p:spPr>
      </p:sp>
      <p:sp>
        <p:nvSpPr>
          <p:cNvPr id="14" name="Text 11"/>
          <p:cNvSpPr txBox="1"/>
          <p:nvPr/>
        </p:nvSpPr>
        <p:spPr>
          <a:xfrm>
            <a:off x="548640" y="4105656"/>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15" name="Text 12"/>
          <p:cNvSpPr txBox="1"/>
          <p:nvPr/>
        </p:nvSpPr>
        <p:spPr>
          <a:xfrm>
            <a:off x="1371600" y="4105656"/>
            <a:ext cx="5852160" cy="731520"/>
          </a:xfrm>
          <a:prstGeom prst="rect">
            <a:avLst/>
          </a:prstGeom>
          <a:noFill/>
          <a:ln/>
        </p:spPr>
        <p:txBody>
          <a:bodyPr wrap="square" lIns="0" tIns="0" rIns="0" bIns="0" rtlCol="0" anchor="ctr"/>
          <a:lstStyle/>
          <a:p>
            <a:pPr indent="0" marL="0">
              <a:buNone/>
            </a:pPr>
            <a:r>
              <a:rPr lang="en-US" sz="1800" dirty="0">
                <a:solidFill>
                  <a:schemeClr val="tx1"/>
                </a:solidFill>
              </a:rPr>
              <a:t>Ask a clarifying question when year or semester is missing</a:t>
            </a:r>
            <a:endParaRPr lang="en-US" sz="1800" dirty="0"/>
          </a:p>
        </p:txBody>
      </p:sp>
      <p:sp>
        <p:nvSpPr>
          <p:cNvPr id="16" name="Rule 5 badge"/>
          <p:cNvSpPr/>
          <p:nvPr/>
        </p:nvSpPr>
        <p:spPr>
          <a:xfrm>
            <a:off x="548640" y="4956048"/>
            <a:ext cx="594360" cy="594360"/>
          </a:xfrm>
          <a:prstGeom prst="ellipse">
            <a:avLst/>
          </a:prstGeom>
          <a:solidFill>
            <a:schemeClr val="accent1"/>
          </a:solidFill>
          <a:ln/>
        </p:spPr>
      </p:sp>
      <p:sp>
        <p:nvSpPr>
          <p:cNvPr id="17" name="Text 14"/>
          <p:cNvSpPr txBox="1"/>
          <p:nvPr/>
        </p:nvSpPr>
        <p:spPr>
          <a:xfrm>
            <a:off x="548640" y="4956048"/>
            <a:ext cx="594360" cy="594360"/>
          </a:xfrm>
          <a:prstGeom prst="rect">
            <a:avLst/>
          </a:prstGeom>
          <a:noFill/>
          <a:ln/>
        </p:spPr>
        <p:txBody>
          <a:bodyPr wrap="square" lIns="0" tIns="0" rIns="0" bIns="0" rtlCol="0" anchor="ctr"/>
          <a:lstStyle/>
          <a:p>
            <a:pPr algn="ctr" indent="0" marL="0">
              <a:buNone/>
            </a:pPr>
            <a:r>
              <a:rPr lang="en-US" sz="2200" b="1" dirty="0">
                <a:solidFill>
                  <a:schemeClr val="tx1"/>
                </a:solidFill>
              </a:rPr>
              <a:t>5</a:t>
            </a:r>
            <a:endParaRPr lang="en-US" sz="2200" dirty="0"/>
          </a:p>
        </p:txBody>
      </p:sp>
      <p:sp>
        <p:nvSpPr>
          <p:cNvPr id="18" name="Text 15"/>
          <p:cNvSpPr txBox="1"/>
          <p:nvPr/>
        </p:nvSpPr>
        <p:spPr>
          <a:xfrm>
            <a:off x="1371600" y="4956048"/>
            <a:ext cx="5852160" cy="731520"/>
          </a:xfrm>
          <a:prstGeom prst="rect">
            <a:avLst/>
          </a:prstGeom>
          <a:noFill/>
          <a:ln/>
        </p:spPr>
        <p:txBody>
          <a:bodyPr wrap="square" lIns="0" tIns="0" rIns="0" bIns="0" rtlCol="0" anchor="ctr"/>
          <a:lstStyle/>
          <a:p>
            <a:pPr indent="0" marL="0">
              <a:buNone/>
            </a:pPr>
            <a:r>
              <a:rPr lang="en-US" sz="1800" dirty="0">
                <a:solidFill>
                  <a:schemeClr val="tx1"/>
                </a:solidFill>
              </a:rPr>
              <a:t>Always name the source document</a:t>
            </a:r>
            <a:endParaRPr lang="en-US" sz="1800" dirty="0"/>
          </a:p>
        </p:txBody>
      </p:sp>
      <p:sp>
        <p:nvSpPr>
          <p:cNvPr id="19" name="Hallucination layers"/>
          <p:cNvSpPr/>
          <p:nvPr/>
        </p:nvSpPr>
        <p:spPr>
          <a:xfrm>
            <a:off x="7680960" y="1554480"/>
            <a:ext cx="3931920" cy="4480560"/>
          </a:xfrm>
          <a:prstGeom prst="rect">
            <a:avLst/>
          </a:prstGeom>
          <a:solidFill>
            <a:schemeClr val="tx1"/>
          </a:solidFill>
          <a:ln/>
        </p:spPr>
      </p:sp>
      <p:sp>
        <p:nvSpPr>
          <p:cNvPr id="20" name="Text 17"/>
          <p:cNvSpPr txBox="1"/>
          <p:nvPr/>
        </p:nvSpPr>
        <p:spPr>
          <a:xfrm>
            <a:off x="7955280" y="1783080"/>
            <a:ext cx="3474720" cy="731520"/>
          </a:xfrm>
          <a:prstGeom prst="rect">
            <a:avLst/>
          </a:prstGeom>
          <a:noFill/>
          <a:ln/>
        </p:spPr>
        <p:txBody>
          <a:bodyPr wrap="square" lIns="0" tIns="0" rIns="0" bIns="0" rtlCol="0" anchor="t"/>
          <a:lstStyle/>
          <a:p>
            <a:pPr indent="0" marL="0">
              <a:buNone/>
            </a:pPr>
            <a:r>
              <a:rPr lang="en-US" sz="2000" b="1" dirty="0">
                <a:solidFill>
                  <a:schemeClr val="accent1"/>
                </a:solidFill>
              </a:rPr>
              <a:t>4 layers against hallucination</a:t>
            </a:r>
            <a:endParaRPr lang="en-US" sz="2000" dirty="0"/>
          </a:p>
        </p:txBody>
      </p:sp>
      <p:sp>
        <p:nvSpPr>
          <p:cNvPr id="21" name="Text 18"/>
          <p:cNvSpPr txBox="1"/>
          <p:nvPr/>
        </p:nvSpPr>
        <p:spPr>
          <a:xfrm>
            <a:off x="7955280" y="2651760"/>
            <a:ext cx="3474720" cy="310896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1600" dirty="0">
                <a:solidFill>
                  <a:schemeClr val="bg1"/>
                </a:solidFill>
              </a:rPr>
              <a:t>Prompt rules: answer only from context</a:t>
            </a:r>
            <a:endParaRPr lang="en-US" sz="1600" dirty="0"/>
          </a:p>
          <a:p>
            <a:pPr marL="342900" indent="-342900">
              <a:spcAft>
                <a:spcPts val="1400"/>
              </a:spcAft>
              <a:buSzPct val="100000"/>
              <a:buFont typeface="+mj-lt"/>
              <a:buAutoNum type="arabicPeriod" startAt="1"/>
            </a:pPr>
            <a:r>
              <a:rPr lang="en-US" sz="1600" dirty="0">
                <a:solidFill>
                  <a:schemeClr val="bg1"/>
                </a:solidFill>
              </a:rPr>
              <a:t>Retrieval limited to our own documents</a:t>
            </a:r>
            <a:endParaRPr lang="en-US" sz="1600" dirty="0"/>
          </a:p>
          <a:p>
            <a:pPr marL="342900" indent="-342900">
              <a:spcAft>
                <a:spcPts val="1400"/>
              </a:spcAft>
              <a:buSzPct val="100000"/>
              <a:buFont typeface="+mj-lt"/>
              <a:buAutoNum type="arabicPeriod" startAt="1"/>
            </a:pPr>
            <a:r>
              <a:rPr lang="en-US" sz="1600" dirty="0">
                <a:solidFill>
                  <a:schemeClr val="bg1"/>
                </a:solidFill>
              </a:rPr>
              <a:t>Sources shown with every answer</a:t>
            </a:r>
            <a:endParaRPr lang="en-US" sz="1600" dirty="0"/>
          </a:p>
          <a:p>
            <a:pPr marL="342900" indent="-342900">
              <a:spcAft>
                <a:spcPts val="1400"/>
              </a:spcAft>
              <a:buSzPct val="100000"/>
              <a:buFont typeface="+mj-lt"/>
              <a:buAutoNum type="arabicPeriod" startAt="1"/>
            </a:pPr>
            <a:r>
              <a:rPr lang="en-US" sz="1600" dirty="0">
                <a:solidFill>
                  <a:schemeClr val="bg1"/>
                </a:solidFill>
              </a:rPr>
              <a:t>Scope refusal for off-topic questions</a:t>
            </a:r>
            <a:endParaRPr lang="en-US" sz="1600" dirty="0"/>
          </a:p>
        </p:txBody>
      </p:sp>
      <p:sp>
        <p:nvSpPr>
          <p:cNvPr id="22" name="Text 19"/>
          <p:cNvSpPr txBox="1"/>
          <p:nvPr/>
        </p:nvSpPr>
        <p:spPr>
          <a:xfrm>
            <a:off x="548640" y="5989320"/>
            <a:ext cx="6858000" cy="274320"/>
          </a:xfrm>
          <a:prstGeom prst="rect">
            <a:avLst/>
          </a:prstGeom>
          <a:noFill/>
          <a:ln/>
        </p:spPr>
        <p:txBody>
          <a:bodyPr wrap="square" lIns="0" tIns="0" rIns="0" bIns="0" rtlCol="0" anchor="t"/>
          <a:lstStyle/>
          <a:p>
            <a:pPr indent="0" marL="0">
              <a:buNone/>
            </a:pPr>
            <a:r>
              <a:rPr lang="en-US" sz="1200" dirty="0">
                <a:solidFill>
                  <a:schemeClr val="accent6"/>
                </a:solidFill>
              </a:rPr>
              <a:t>Merged from four prompts designed in Checkpoint 2.</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Fine-tuning? We chose not to, on purpose</a:t>
            </a:r>
            <a:endParaRPr lang="en-US" sz="3600" dirty="0"/>
          </a:p>
        </p:txBody>
      </p:sp>
      <p:sp>
        <p:nvSpPr>
          <p:cNvPr id="4" name="Closed weights card"/>
          <p:cNvSpPr/>
          <p:nvPr/>
        </p:nvSpPr>
        <p:spPr>
          <a:xfrm>
            <a:off x="548640" y="1554480"/>
            <a:ext cx="3566160" cy="3017520"/>
          </a:xfrm>
          <a:prstGeom prst="rect">
            <a:avLst/>
          </a:prstGeom>
          <a:solidFill>
            <a:schemeClr val="bg2"/>
          </a:solidFill>
          <a:ln/>
        </p:spPr>
      </p:sp>
      <p:sp>
        <p:nvSpPr>
          <p:cNvPr id="5" name="Closed weights badge"/>
          <p:cNvSpPr/>
          <p:nvPr/>
        </p:nvSpPr>
        <p:spPr>
          <a:xfrm>
            <a:off x="822960" y="1783080"/>
            <a:ext cx="731520" cy="731520"/>
          </a:xfrm>
          <a:prstGeom prst="ellipse">
            <a:avLst/>
          </a:prstGeom>
          <a:solidFill>
            <a:schemeClr val="accent2"/>
          </a:solidFill>
          <a:ln/>
        </p:spPr>
      </p:sp>
      <p:pic>
        <p:nvPicPr>
          <p:cNvPr id="6" name="Image 0" descr="Closed weights">    </p:cNvPr>
          <p:cNvPicPr>
            <a:picLocks noChangeAspect="1"/>
          </p:cNvPicPr>
          <p:nvPr/>
        </p:nvPicPr>
        <p:blipFill>
          <a:blip r:embed="rId1"/>
          <a:stretch>
            <a:fillRect/>
          </a:stretch>
        </p:blipFill>
        <p:spPr>
          <a:xfrm>
            <a:off x="1005840" y="1965960"/>
            <a:ext cx="365760" cy="365760"/>
          </a:xfrm>
          <a:prstGeom prst="rect">
            <a:avLst/>
          </a:prstGeom>
        </p:spPr>
      </p:pic>
      <p:sp>
        <p:nvSpPr>
          <p:cNvPr id="7" name="Text 3"/>
          <p:cNvSpPr txBox="1"/>
          <p:nvPr/>
        </p:nvSpPr>
        <p:spPr>
          <a:xfrm>
            <a:off x="822960" y="26974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Closed weights</a:t>
            </a:r>
            <a:endParaRPr lang="en-US" sz="2000" dirty="0"/>
          </a:p>
        </p:txBody>
      </p:sp>
      <p:sp>
        <p:nvSpPr>
          <p:cNvPr id="8" name="Text 4"/>
          <p:cNvSpPr txBox="1"/>
          <p:nvPr/>
        </p:nvSpPr>
        <p:spPr>
          <a:xfrm>
            <a:off x="822960" y="3154680"/>
            <a:ext cx="3017520" cy="1280160"/>
          </a:xfrm>
          <a:prstGeom prst="rect">
            <a:avLst/>
          </a:prstGeom>
          <a:noFill/>
          <a:ln/>
        </p:spPr>
        <p:txBody>
          <a:bodyPr wrap="square" lIns="0" tIns="0" rIns="0" bIns="0" rtlCol="0" anchor="t"/>
          <a:lstStyle/>
          <a:p>
            <a:pPr indent="0" marL="0">
              <a:buNone/>
            </a:pPr>
            <a:r>
              <a:rPr lang="en-US" sz="1600" dirty="0">
                <a:solidFill>
                  <a:schemeClr val="tx1"/>
                </a:solidFill>
              </a:rPr>
              <a:t>Gemini is used through an API, so LoRA cannot be applied to it.</a:t>
            </a:r>
            <a:endParaRPr lang="en-US" sz="1600" dirty="0"/>
          </a:p>
        </p:txBody>
      </p:sp>
      <p:sp>
        <p:nvSpPr>
          <p:cNvPr id="9" name="Retrieval problems card"/>
          <p:cNvSpPr/>
          <p:nvPr/>
        </p:nvSpPr>
        <p:spPr>
          <a:xfrm>
            <a:off x="4297680" y="1554480"/>
            <a:ext cx="3566160" cy="3017520"/>
          </a:xfrm>
          <a:prstGeom prst="rect">
            <a:avLst/>
          </a:prstGeom>
          <a:solidFill>
            <a:schemeClr val="bg2"/>
          </a:solidFill>
          <a:ln/>
        </p:spPr>
      </p:sp>
      <p:sp>
        <p:nvSpPr>
          <p:cNvPr id="10" name="Retrieval problems badge"/>
          <p:cNvSpPr/>
          <p:nvPr/>
        </p:nvSpPr>
        <p:spPr>
          <a:xfrm>
            <a:off x="4572000" y="1783080"/>
            <a:ext cx="731520" cy="731520"/>
          </a:xfrm>
          <a:prstGeom prst="ellipse">
            <a:avLst/>
          </a:prstGeom>
          <a:solidFill>
            <a:schemeClr val="accent2"/>
          </a:solidFill>
          <a:ln/>
        </p:spPr>
      </p:sp>
      <p:pic>
        <p:nvPicPr>
          <p:cNvPr id="11" name="Image 1" descr="Retrieval problems">    </p:cNvPr>
          <p:cNvPicPr>
            <a:picLocks noChangeAspect="1"/>
          </p:cNvPicPr>
          <p:nvPr/>
        </p:nvPicPr>
        <p:blipFill>
          <a:blip r:embed="rId2"/>
          <a:stretch>
            <a:fillRect/>
          </a:stretch>
        </p:blipFill>
        <p:spPr>
          <a:xfrm>
            <a:off x="4754880" y="1965960"/>
            <a:ext cx="365760" cy="365760"/>
          </a:xfrm>
          <a:prstGeom prst="rect">
            <a:avLst/>
          </a:prstGeom>
        </p:spPr>
      </p:pic>
      <p:sp>
        <p:nvSpPr>
          <p:cNvPr id="12" name="Text 7"/>
          <p:cNvSpPr txBox="1"/>
          <p:nvPr/>
        </p:nvSpPr>
        <p:spPr>
          <a:xfrm>
            <a:off x="4572000" y="26974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Retrieval problems</a:t>
            </a:r>
            <a:endParaRPr lang="en-US" sz="2000" dirty="0"/>
          </a:p>
        </p:txBody>
      </p:sp>
      <p:sp>
        <p:nvSpPr>
          <p:cNvPr id="13" name="Text 8"/>
          <p:cNvSpPr txBox="1"/>
          <p:nvPr/>
        </p:nvSpPr>
        <p:spPr>
          <a:xfrm>
            <a:off x="4572000" y="3154680"/>
            <a:ext cx="3017520" cy="1280160"/>
          </a:xfrm>
          <a:prstGeom prst="rect">
            <a:avLst/>
          </a:prstGeom>
          <a:noFill/>
          <a:ln/>
        </p:spPr>
        <p:txBody>
          <a:bodyPr wrap="square" lIns="0" tIns="0" rIns="0" bIns="0" rtlCol="0" anchor="t"/>
          <a:lstStyle/>
          <a:p>
            <a:pPr indent="0" marL="0">
              <a:buNone/>
            </a:pPr>
            <a:r>
              <a:rPr lang="en-US" sz="1600" dirty="0">
                <a:solidFill>
                  <a:schemeClr val="tx1"/>
                </a:solidFill>
              </a:rPr>
              <a:t>Our failures were retrieval misses, not model behavior. Fine-tuning the generator would not fix them.</a:t>
            </a:r>
            <a:endParaRPr lang="en-US" sz="1600" dirty="0"/>
          </a:p>
        </p:txBody>
      </p:sp>
      <p:sp>
        <p:nvSpPr>
          <p:cNvPr id="14" name="Facts change card"/>
          <p:cNvSpPr/>
          <p:nvPr/>
        </p:nvSpPr>
        <p:spPr>
          <a:xfrm>
            <a:off x="8046720" y="1554480"/>
            <a:ext cx="3566160" cy="3017520"/>
          </a:xfrm>
          <a:prstGeom prst="rect">
            <a:avLst/>
          </a:prstGeom>
          <a:solidFill>
            <a:schemeClr val="bg2"/>
          </a:solidFill>
          <a:ln/>
        </p:spPr>
      </p:sp>
      <p:sp>
        <p:nvSpPr>
          <p:cNvPr id="15" name="Facts change badge"/>
          <p:cNvSpPr/>
          <p:nvPr/>
        </p:nvSpPr>
        <p:spPr>
          <a:xfrm>
            <a:off x="8321040" y="1783080"/>
            <a:ext cx="731520" cy="731520"/>
          </a:xfrm>
          <a:prstGeom prst="ellipse">
            <a:avLst/>
          </a:prstGeom>
          <a:solidFill>
            <a:schemeClr val="accent2"/>
          </a:solidFill>
          <a:ln/>
        </p:spPr>
      </p:sp>
      <p:pic>
        <p:nvPicPr>
          <p:cNvPr id="16" name="Image 2" descr="Facts change">    </p:cNvPr>
          <p:cNvPicPr>
            <a:picLocks noChangeAspect="1"/>
          </p:cNvPicPr>
          <p:nvPr/>
        </p:nvPicPr>
        <p:blipFill>
          <a:blip r:embed="rId3"/>
          <a:stretch>
            <a:fillRect/>
          </a:stretch>
        </p:blipFill>
        <p:spPr>
          <a:xfrm>
            <a:off x="8503920" y="1965960"/>
            <a:ext cx="365760" cy="365760"/>
          </a:xfrm>
          <a:prstGeom prst="rect">
            <a:avLst/>
          </a:prstGeom>
        </p:spPr>
      </p:pic>
      <p:sp>
        <p:nvSpPr>
          <p:cNvPr id="17" name="Text 11"/>
          <p:cNvSpPr txBox="1"/>
          <p:nvPr/>
        </p:nvSpPr>
        <p:spPr>
          <a:xfrm>
            <a:off x="8321040" y="2697480"/>
            <a:ext cx="3017520" cy="411480"/>
          </a:xfrm>
          <a:prstGeom prst="rect">
            <a:avLst/>
          </a:prstGeom>
          <a:noFill/>
          <a:ln/>
        </p:spPr>
        <p:txBody>
          <a:bodyPr wrap="square" lIns="0" tIns="0" rIns="0" bIns="0" rtlCol="0" anchor="t"/>
          <a:lstStyle/>
          <a:p>
            <a:pPr indent="0" marL="0">
              <a:buNone/>
            </a:pPr>
            <a:r>
              <a:rPr lang="en-US" sz="2000" b="1" dirty="0">
                <a:solidFill>
                  <a:schemeClr val="tx1"/>
                </a:solidFill>
              </a:rPr>
              <a:t>Facts change</a:t>
            </a:r>
            <a:endParaRPr lang="en-US" sz="2000" dirty="0"/>
          </a:p>
        </p:txBody>
      </p:sp>
      <p:sp>
        <p:nvSpPr>
          <p:cNvPr id="18" name="Text 12"/>
          <p:cNvSpPr txBox="1"/>
          <p:nvPr/>
        </p:nvSpPr>
        <p:spPr>
          <a:xfrm>
            <a:off x="8321040" y="3154680"/>
            <a:ext cx="3017520" cy="1280160"/>
          </a:xfrm>
          <a:prstGeom prst="rect">
            <a:avLst/>
          </a:prstGeom>
          <a:noFill/>
          <a:ln/>
        </p:spPr>
        <p:txBody>
          <a:bodyPr wrap="square" lIns="0" tIns="0" rIns="0" bIns="0" rtlCol="0" anchor="t"/>
          <a:lstStyle/>
          <a:p>
            <a:pPr indent="0" marL="0">
              <a:buNone/>
            </a:pPr>
            <a:r>
              <a:rPr lang="en-US" sz="1600" dirty="0">
                <a:solidFill>
                  <a:schemeClr val="tx1"/>
                </a:solidFill>
              </a:rPr>
              <a:t>Curricula are revised. Keep facts in editable files, not in model weights.</a:t>
            </a:r>
            <a:endParaRPr lang="en-US" sz="1600" dirty="0"/>
          </a:p>
        </p:txBody>
      </p:sp>
      <p:sp>
        <p:nvSpPr>
          <p:cNvPr id="19" name="If we continued"/>
          <p:cNvSpPr/>
          <p:nvPr/>
        </p:nvSpPr>
        <p:spPr>
          <a:xfrm>
            <a:off x="548640" y="4800600"/>
            <a:ext cx="11064240" cy="1325880"/>
          </a:xfrm>
          <a:prstGeom prst="rect">
            <a:avLst/>
          </a:prstGeom>
          <a:solidFill>
            <a:schemeClr val="tx1"/>
          </a:solidFill>
          <a:ln/>
        </p:spPr>
      </p:sp>
      <p:sp>
        <p:nvSpPr>
          <p:cNvPr id="20" name="Text 14"/>
          <p:cNvSpPr txBox="1"/>
          <p:nvPr/>
        </p:nvSpPr>
        <p:spPr>
          <a:xfrm>
            <a:off x="822960" y="4937760"/>
            <a:ext cx="3657600" cy="320040"/>
          </a:xfrm>
          <a:prstGeom prst="rect">
            <a:avLst/>
          </a:prstGeom>
          <a:noFill/>
          <a:ln/>
        </p:spPr>
        <p:txBody>
          <a:bodyPr wrap="square" lIns="0" tIns="0" rIns="0" bIns="0" rtlCol="0" anchor="t"/>
          <a:lstStyle/>
          <a:p>
            <a:pPr indent="0" marL="0">
              <a:buNone/>
            </a:pPr>
            <a:r>
              <a:rPr lang="en-US" sz="1400" b="1" dirty="0">
                <a:solidFill>
                  <a:schemeClr val="accent1"/>
                </a:solidFill>
              </a:rPr>
              <a:t>IF WE CONTINUED</a:t>
            </a:r>
            <a:endParaRPr lang="en-US" sz="1400" dirty="0"/>
          </a:p>
        </p:txBody>
      </p:sp>
      <p:sp>
        <p:nvSpPr>
          <p:cNvPr id="21" name="Text 15"/>
          <p:cNvSpPr txBox="1"/>
          <p:nvPr/>
        </p:nvSpPr>
        <p:spPr>
          <a:xfrm>
            <a:off x="822960" y="5303520"/>
            <a:ext cx="10515600" cy="731520"/>
          </a:xfrm>
          <a:prstGeom prst="rect">
            <a:avLst/>
          </a:prstGeom>
          <a:noFill/>
          <a:ln/>
        </p:spPr>
        <p:txBody>
          <a:bodyPr wrap="square" lIns="0" tIns="0" rIns="0" bIns="0" rtlCol="0" anchor="t"/>
          <a:lstStyle/>
          <a:p>
            <a:pPr indent="0" marL="0">
              <a:buNone/>
            </a:pPr>
            <a:r>
              <a:rPr lang="en-US" sz="1600" dirty="0">
                <a:solidFill>
                  <a:schemeClr val="bg1"/>
                </a:solidFill>
              </a:rPr>
              <a:t>First: fine-tune the MiniLM embedder on question–chunk pairs and measure recall@4. Later: QLoRA on a small open-weight model, only to make answer format consistent.</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From laptop to public URL</a:t>
            </a:r>
            <a:endParaRPr lang="en-US" sz="3600" dirty="0"/>
          </a:p>
        </p:txBody>
      </p:sp>
      <p:sp>
        <p:nvSpPr>
          <p:cNvPr id="4" name="GitHub push step"/>
          <p:cNvSpPr/>
          <p:nvPr/>
        </p:nvSpPr>
        <p:spPr>
          <a:xfrm>
            <a:off x="548640" y="1554480"/>
            <a:ext cx="2377440" cy="1463040"/>
          </a:xfrm>
          <a:prstGeom prst="rect">
            <a:avLst/>
          </a:prstGeom>
          <a:solidFill>
            <a:schemeClr val="bg2"/>
          </a:solidFill>
          <a:ln/>
        </p:spPr>
      </p:sp>
      <p:sp>
        <p:nvSpPr>
          <p:cNvPr id="5" name="GitHub push badge"/>
          <p:cNvSpPr/>
          <p:nvPr/>
        </p:nvSpPr>
        <p:spPr>
          <a:xfrm>
            <a:off x="685800" y="1691640"/>
            <a:ext cx="548640" cy="548640"/>
          </a:xfrm>
          <a:prstGeom prst="ellipse">
            <a:avLst/>
          </a:prstGeom>
          <a:solidFill>
            <a:schemeClr val="accent2"/>
          </a:solidFill>
          <a:ln/>
        </p:spPr>
      </p:sp>
      <p:pic>
        <p:nvPicPr>
          <p:cNvPr id="6" name="Image 0" descr="GitHub push">    </p:cNvPr>
          <p:cNvPicPr>
            <a:picLocks noChangeAspect="1"/>
          </p:cNvPicPr>
          <p:nvPr/>
        </p:nvPicPr>
        <p:blipFill>
          <a:blip r:embed="rId1"/>
          <a:stretch>
            <a:fillRect/>
          </a:stretch>
        </p:blipFill>
        <p:spPr>
          <a:xfrm>
            <a:off x="822960" y="1828800"/>
            <a:ext cx="274320" cy="274320"/>
          </a:xfrm>
          <a:prstGeom prst="rect">
            <a:avLst/>
          </a:prstGeom>
        </p:spPr>
      </p:pic>
      <p:sp>
        <p:nvSpPr>
          <p:cNvPr id="7" name="Text 3"/>
          <p:cNvSpPr txBox="1"/>
          <p:nvPr/>
        </p:nvSpPr>
        <p:spPr>
          <a:xfrm>
            <a:off x="1371600" y="1783080"/>
            <a:ext cx="1463040" cy="365760"/>
          </a:xfrm>
          <a:prstGeom prst="rect">
            <a:avLst/>
          </a:prstGeom>
          <a:noFill/>
          <a:ln/>
        </p:spPr>
        <p:txBody>
          <a:bodyPr wrap="square" lIns="0" tIns="0" rIns="0" bIns="0" rtlCol="0" anchor="t"/>
          <a:lstStyle/>
          <a:p>
            <a:pPr indent="0" marL="0">
              <a:buNone/>
            </a:pPr>
            <a:r>
              <a:rPr lang="en-US" sz="1600" b="1" dirty="0">
                <a:solidFill>
                  <a:schemeClr val="tx1"/>
                </a:solidFill>
              </a:rPr>
              <a:t>GitHub push</a:t>
            </a:r>
            <a:endParaRPr lang="en-US" sz="1600" dirty="0"/>
          </a:p>
        </p:txBody>
      </p:sp>
      <p:sp>
        <p:nvSpPr>
          <p:cNvPr id="8" name="Text 4"/>
          <p:cNvSpPr txBox="1"/>
          <p:nvPr/>
        </p:nvSpPr>
        <p:spPr>
          <a:xfrm>
            <a:off x="685800" y="2377440"/>
            <a:ext cx="2103120" cy="594360"/>
          </a:xfrm>
          <a:prstGeom prst="rect">
            <a:avLst/>
          </a:prstGeom>
          <a:noFill/>
          <a:ln/>
        </p:spPr>
        <p:txBody>
          <a:bodyPr wrap="square" lIns="0" tIns="0" rIns="0" bIns="0" rtlCol="0" anchor="t"/>
          <a:lstStyle/>
          <a:p>
            <a:pPr indent="0" marL="0">
              <a:buNone/>
            </a:pPr>
            <a:r>
              <a:rPr lang="en-US" sz="1400" dirty="0">
                <a:solidFill>
                  <a:schemeClr val="tx1"/>
                </a:solidFill>
              </a:rPr>
              <a:t>Code and Dockerfile</a:t>
            </a:r>
            <a:endParaRPr lang="en-US" sz="1400" dirty="0"/>
          </a:p>
        </p:txBody>
      </p:sp>
      <p:sp>
        <p:nvSpPr>
          <p:cNvPr id="9" name="Shape 5"/>
          <p:cNvSpPr/>
          <p:nvPr/>
        </p:nvSpPr>
        <p:spPr>
          <a:xfrm>
            <a:off x="2971800" y="2286000"/>
            <a:ext cx="426720" cy="0"/>
          </a:xfrm>
          <a:prstGeom prst="line">
            <a:avLst/>
          </a:prstGeom>
          <a:noFill/>
          <a:ln w="31750">
            <a:solidFill>
              <a:schemeClr val="accent6"/>
            </a:solidFill>
            <a:prstDash val="solid"/>
            <a:tailEnd type="triangle"/>
          </a:ln>
        </p:spPr>
      </p:sp>
      <p:sp>
        <p:nvSpPr>
          <p:cNvPr id="10" name="GitHub Actions step"/>
          <p:cNvSpPr/>
          <p:nvPr/>
        </p:nvSpPr>
        <p:spPr>
          <a:xfrm>
            <a:off x="3444240" y="1554480"/>
            <a:ext cx="2377440" cy="1463040"/>
          </a:xfrm>
          <a:prstGeom prst="rect">
            <a:avLst/>
          </a:prstGeom>
          <a:solidFill>
            <a:schemeClr val="bg2"/>
          </a:solidFill>
          <a:ln/>
        </p:spPr>
      </p:sp>
      <p:sp>
        <p:nvSpPr>
          <p:cNvPr id="11" name="GitHub Actions badge"/>
          <p:cNvSpPr/>
          <p:nvPr/>
        </p:nvSpPr>
        <p:spPr>
          <a:xfrm>
            <a:off x="3581400" y="1691640"/>
            <a:ext cx="548640" cy="548640"/>
          </a:xfrm>
          <a:prstGeom prst="ellipse">
            <a:avLst/>
          </a:prstGeom>
          <a:solidFill>
            <a:schemeClr val="accent2"/>
          </a:solidFill>
          <a:ln/>
        </p:spPr>
      </p:sp>
      <p:pic>
        <p:nvPicPr>
          <p:cNvPr id="12" name="Image 1" descr="GitHub Actions">    </p:cNvPr>
          <p:cNvPicPr>
            <a:picLocks noChangeAspect="1"/>
          </p:cNvPicPr>
          <p:nvPr/>
        </p:nvPicPr>
        <p:blipFill>
          <a:blip r:embed="rId2"/>
          <a:stretch>
            <a:fillRect/>
          </a:stretch>
        </p:blipFill>
        <p:spPr>
          <a:xfrm>
            <a:off x="3718560" y="1828800"/>
            <a:ext cx="274320" cy="274320"/>
          </a:xfrm>
          <a:prstGeom prst="rect">
            <a:avLst/>
          </a:prstGeom>
        </p:spPr>
      </p:pic>
      <p:sp>
        <p:nvSpPr>
          <p:cNvPr id="13" name="Text 8"/>
          <p:cNvSpPr txBox="1"/>
          <p:nvPr/>
        </p:nvSpPr>
        <p:spPr>
          <a:xfrm>
            <a:off x="4267200" y="1783080"/>
            <a:ext cx="1463040" cy="365760"/>
          </a:xfrm>
          <a:prstGeom prst="rect">
            <a:avLst/>
          </a:prstGeom>
          <a:noFill/>
          <a:ln/>
        </p:spPr>
        <p:txBody>
          <a:bodyPr wrap="square" lIns="0" tIns="0" rIns="0" bIns="0" rtlCol="0" anchor="t"/>
          <a:lstStyle/>
          <a:p>
            <a:pPr indent="0" marL="0">
              <a:buNone/>
            </a:pPr>
            <a:r>
              <a:rPr lang="en-US" sz="1600" b="1" dirty="0">
                <a:solidFill>
                  <a:schemeClr val="tx1"/>
                </a:solidFill>
              </a:rPr>
              <a:t>GitHub Actions</a:t>
            </a:r>
            <a:endParaRPr lang="en-US" sz="1600" dirty="0"/>
          </a:p>
        </p:txBody>
      </p:sp>
      <p:sp>
        <p:nvSpPr>
          <p:cNvPr id="14" name="Text 9"/>
          <p:cNvSpPr txBox="1"/>
          <p:nvPr/>
        </p:nvSpPr>
        <p:spPr>
          <a:xfrm>
            <a:off x="3581400" y="2377440"/>
            <a:ext cx="2103120" cy="594360"/>
          </a:xfrm>
          <a:prstGeom prst="rect">
            <a:avLst/>
          </a:prstGeom>
          <a:noFill/>
          <a:ln/>
        </p:spPr>
        <p:txBody>
          <a:bodyPr wrap="square" lIns="0" tIns="0" rIns="0" bIns="0" rtlCol="0" anchor="t"/>
          <a:lstStyle/>
          <a:p>
            <a:pPr indent="0" marL="0">
              <a:buNone/>
            </a:pPr>
            <a:r>
              <a:rPr lang="en-US" sz="1400" dirty="0">
                <a:solidFill>
                  <a:schemeClr val="tx1"/>
                </a:solidFill>
              </a:rPr>
              <a:t>Builds image, runs offline tests</a:t>
            </a:r>
            <a:endParaRPr lang="en-US" sz="1400" dirty="0"/>
          </a:p>
        </p:txBody>
      </p:sp>
      <p:sp>
        <p:nvSpPr>
          <p:cNvPr id="15" name="Shape 10"/>
          <p:cNvSpPr/>
          <p:nvPr/>
        </p:nvSpPr>
        <p:spPr>
          <a:xfrm>
            <a:off x="5867400" y="2286000"/>
            <a:ext cx="426720" cy="0"/>
          </a:xfrm>
          <a:prstGeom prst="line">
            <a:avLst/>
          </a:prstGeom>
          <a:noFill/>
          <a:ln w="31750">
            <a:solidFill>
              <a:schemeClr val="accent6"/>
            </a:solidFill>
            <a:prstDash val="solid"/>
            <a:tailEnd type="triangle"/>
          </a:ln>
        </p:spPr>
      </p:sp>
      <p:sp>
        <p:nvSpPr>
          <p:cNvPr id="16" name="Streamlit Cloud step"/>
          <p:cNvSpPr/>
          <p:nvPr/>
        </p:nvSpPr>
        <p:spPr>
          <a:xfrm>
            <a:off x="6339840" y="1554480"/>
            <a:ext cx="2377440" cy="1463040"/>
          </a:xfrm>
          <a:prstGeom prst="rect">
            <a:avLst/>
          </a:prstGeom>
          <a:solidFill>
            <a:schemeClr val="bg2"/>
          </a:solidFill>
          <a:ln/>
        </p:spPr>
      </p:sp>
      <p:sp>
        <p:nvSpPr>
          <p:cNvPr id="17" name="Streamlit Cloud badge"/>
          <p:cNvSpPr/>
          <p:nvPr/>
        </p:nvSpPr>
        <p:spPr>
          <a:xfrm>
            <a:off x="6477000" y="1691640"/>
            <a:ext cx="548640" cy="548640"/>
          </a:xfrm>
          <a:prstGeom prst="ellipse">
            <a:avLst/>
          </a:prstGeom>
          <a:solidFill>
            <a:schemeClr val="accent2"/>
          </a:solidFill>
          <a:ln/>
        </p:spPr>
      </p:sp>
      <p:pic>
        <p:nvPicPr>
          <p:cNvPr id="18" name="Image 2" descr="Streamlit Cloud">    </p:cNvPr>
          <p:cNvPicPr>
            <a:picLocks noChangeAspect="1"/>
          </p:cNvPicPr>
          <p:nvPr/>
        </p:nvPicPr>
        <p:blipFill>
          <a:blip r:embed="rId3"/>
          <a:stretch>
            <a:fillRect/>
          </a:stretch>
        </p:blipFill>
        <p:spPr>
          <a:xfrm>
            <a:off x="6614160" y="1828800"/>
            <a:ext cx="274320" cy="274320"/>
          </a:xfrm>
          <a:prstGeom prst="rect">
            <a:avLst/>
          </a:prstGeom>
        </p:spPr>
      </p:pic>
      <p:sp>
        <p:nvSpPr>
          <p:cNvPr id="19" name="Text 13"/>
          <p:cNvSpPr txBox="1"/>
          <p:nvPr/>
        </p:nvSpPr>
        <p:spPr>
          <a:xfrm>
            <a:off x="7162800" y="1783080"/>
            <a:ext cx="1463040" cy="365760"/>
          </a:xfrm>
          <a:prstGeom prst="rect">
            <a:avLst/>
          </a:prstGeom>
          <a:noFill/>
          <a:ln/>
        </p:spPr>
        <p:txBody>
          <a:bodyPr wrap="square" lIns="0" tIns="0" rIns="0" bIns="0" rtlCol="0" anchor="t"/>
          <a:lstStyle/>
          <a:p>
            <a:pPr indent="0" marL="0">
              <a:buNone/>
            </a:pPr>
            <a:r>
              <a:rPr lang="en-US" sz="1600" b="1" dirty="0">
                <a:solidFill>
                  <a:schemeClr val="tx1"/>
                </a:solidFill>
              </a:rPr>
              <a:t>Streamlit Cloud</a:t>
            </a:r>
            <a:endParaRPr lang="en-US" sz="1600" dirty="0"/>
          </a:p>
        </p:txBody>
      </p:sp>
      <p:sp>
        <p:nvSpPr>
          <p:cNvPr id="20" name="Text 14"/>
          <p:cNvSpPr txBox="1"/>
          <p:nvPr/>
        </p:nvSpPr>
        <p:spPr>
          <a:xfrm>
            <a:off x="6477000" y="2377440"/>
            <a:ext cx="2103120" cy="594360"/>
          </a:xfrm>
          <a:prstGeom prst="rect">
            <a:avLst/>
          </a:prstGeom>
          <a:noFill/>
          <a:ln/>
        </p:spPr>
        <p:txBody>
          <a:bodyPr wrap="square" lIns="0" tIns="0" rIns="0" bIns="0" rtlCol="0" anchor="t"/>
          <a:lstStyle/>
          <a:p>
            <a:pPr indent="0" marL="0">
              <a:buNone/>
            </a:pPr>
            <a:r>
              <a:rPr lang="en-US" sz="1400" dirty="0">
                <a:solidFill>
                  <a:schemeClr val="tx1"/>
                </a:solidFill>
              </a:rPr>
              <a:t>Runs the repo; key kept in Secrets</a:t>
            </a:r>
            <a:endParaRPr lang="en-US" sz="1400" dirty="0"/>
          </a:p>
        </p:txBody>
      </p:sp>
      <p:sp>
        <p:nvSpPr>
          <p:cNvPr id="21" name="Shape 15"/>
          <p:cNvSpPr/>
          <p:nvPr/>
        </p:nvSpPr>
        <p:spPr>
          <a:xfrm>
            <a:off x="8763000" y="2286000"/>
            <a:ext cx="426720" cy="0"/>
          </a:xfrm>
          <a:prstGeom prst="line">
            <a:avLst/>
          </a:prstGeom>
          <a:noFill/>
          <a:ln w="31750">
            <a:solidFill>
              <a:schemeClr val="accent6"/>
            </a:solidFill>
            <a:prstDash val="solid"/>
            <a:tailEnd type="triangle"/>
          </a:ln>
        </p:spPr>
      </p:sp>
      <p:sp>
        <p:nvSpPr>
          <p:cNvPr id="22" name="Public URL step"/>
          <p:cNvSpPr/>
          <p:nvPr/>
        </p:nvSpPr>
        <p:spPr>
          <a:xfrm>
            <a:off x="9235440" y="1554480"/>
            <a:ext cx="2377440" cy="1463040"/>
          </a:xfrm>
          <a:prstGeom prst="rect">
            <a:avLst/>
          </a:prstGeom>
          <a:solidFill>
            <a:schemeClr val="bg2"/>
          </a:solidFill>
          <a:ln/>
        </p:spPr>
      </p:sp>
      <p:sp>
        <p:nvSpPr>
          <p:cNvPr id="23" name="Public URL badge"/>
          <p:cNvSpPr/>
          <p:nvPr/>
        </p:nvSpPr>
        <p:spPr>
          <a:xfrm>
            <a:off x="9372600" y="1691640"/>
            <a:ext cx="548640" cy="548640"/>
          </a:xfrm>
          <a:prstGeom prst="ellipse">
            <a:avLst/>
          </a:prstGeom>
          <a:solidFill>
            <a:schemeClr val="accent2"/>
          </a:solidFill>
          <a:ln/>
        </p:spPr>
      </p:sp>
      <p:pic>
        <p:nvPicPr>
          <p:cNvPr id="24" name="Image 3" descr="Public URL">    </p:cNvPr>
          <p:cNvPicPr>
            <a:picLocks noChangeAspect="1"/>
          </p:cNvPicPr>
          <p:nvPr/>
        </p:nvPicPr>
        <p:blipFill>
          <a:blip r:embed="rId4"/>
          <a:stretch>
            <a:fillRect/>
          </a:stretch>
        </p:blipFill>
        <p:spPr>
          <a:xfrm>
            <a:off x="9509760" y="1828800"/>
            <a:ext cx="274320" cy="274320"/>
          </a:xfrm>
          <a:prstGeom prst="rect">
            <a:avLst/>
          </a:prstGeom>
        </p:spPr>
      </p:pic>
      <p:sp>
        <p:nvSpPr>
          <p:cNvPr id="25" name="Text 18"/>
          <p:cNvSpPr txBox="1"/>
          <p:nvPr/>
        </p:nvSpPr>
        <p:spPr>
          <a:xfrm>
            <a:off x="10058400" y="1783080"/>
            <a:ext cx="1463040" cy="365760"/>
          </a:xfrm>
          <a:prstGeom prst="rect">
            <a:avLst/>
          </a:prstGeom>
          <a:noFill/>
          <a:ln/>
        </p:spPr>
        <p:txBody>
          <a:bodyPr wrap="square" lIns="0" tIns="0" rIns="0" bIns="0" rtlCol="0" anchor="t"/>
          <a:lstStyle/>
          <a:p>
            <a:pPr indent="0" marL="0">
              <a:buNone/>
            </a:pPr>
            <a:r>
              <a:rPr lang="en-US" sz="1600" b="1" dirty="0">
                <a:solidFill>
                  <a:schemeClr val="tx1"/>
                </a:solidFill>
              </a:rPr>
              <a:t>Public URL</a:t>
            </a:r>
            <a:endParaRPr lang="en-US" sz="1600" dirty="0"/>
          </a:p>
        </p:txBody>
      </p:sp>
      <p:sp>
        <p:nvSpPr>
          <p:cNvPr id="26" name="Text 19"/>
          <p:cNvSpPr txBox="1"/>
          <p:nvPr/>
        </p:nvSpPr>
        <p:spPr>
          <a:xfrm>
            <a:off x="9372600" y="2377440"/>
            <a:ext cx="2103120" cy="594360"/>
          </a:xfrm>
          <a:prstGeom prst="rect">
            <a:avLst/>
          </a:prstGeom>
          <a:noFill/>
          <a:ln/>
        </p:spPr>
        <p:txBody>
          <a:bodyPr wrap="square" lIns="0" tIns="0" rIns="0" bIns="0" rtlCol="0" anchor="t"/>
          <a:lstStyle/>
          <a:p>
            <a:pPr indent="0" marL="0">
              <a:buNone/>
            </a:pPr>
            <a:r>
              <a:rPr lang="en-US" sz="1400" dirty="0">
                <a:solidFill>
                  <a:schemeClr val="tx1"/>
                </a:solidFill>
              </a:rPr>
              <a:t>Anyone can open the app</a:t>
            </a:r>
            <a:endParaRPr lang="en-US" sz="1400" dirty="0"/>
          </a:p>
        </p:txBody>
      </p:sp>
      <p:sp>
        <p:nvSpPr>
          <p:cNvPr id="27" name="Streamlit UI card"/>
          <p:cNvSpPr/>
          <p:nvPr/>
        </p:nvSpPr>
        <p:spPr>
          <a:xfrm>
            <a:off x="548640" y="3291840"/>
            <a:ext cx="3566160" cy="2834640"/>
          </a:xfrm>
          <a:prstGeom prst="rect">
            <a:avLst/>
          </a:prstGeom>
          <a:solidFill>
            <a:schemeClr val="bg2"/>
          </a:solidFill>
          <a:ln/>
        </p:spPr>
      </p:sp>
      <p:sp>
        <p:nvSpPr>
          <p:cNvPr id="28" name="Streamlit UI badge"/>
          <p:cNvSpPr/>
          <p:nvPr/>
        </p:nvSpPr>
        <p:spPr>
          <a:xfrm>
            <a:off x="777240" y="3474720"/>
            <a:ext cx="548640" cy="548640"/>
          </a:xfrm>
          <a:prstGeom prst="ellipse">
            <a:avLst/>
          </a:prstGeom>
          <a:solidFill>
            <a:schemeClr val="accent1"/>
          </a:solidFill>
          <a:ln/>
        </p:spPr>
      </p:sp>
      <p:pic>
        <p:nvPicPr>
          <p:cNvPr id="29" name="Image 4" descr="Streamlit UI">    </p:cNvPr>
          <p:cNvPicPr>
            <a:picLocks noChangeAspect="1"/>
          </p:cNvPicPr>
          <p:nvPr/>
        </p:nvPicPr>
        <p:blipFill>
          <a:blip r:embed="rId5"/>
          <a:stretch>
            <a:fillRect/>
          </a:stretch>
        </p:blipFill>
        <p:spPr>
          <a:xfrm>
            <a:off x="914400" y="3611880"/>
            <a:ext cx="274320" cy="274320"/>
          </a:xfrm>
          <a:prstGeom prst="rect">
            <a:avLst/>
          </a:prstGeom>
        </p:spPr>
      </p:pic>
      <p:sp>
        <p:nvSpPr>
          <p:cNvPr id="30" name="Text 22"/>
          <p:cNvSpPr txBox="1"/>
          <p:nvPr/>
        </p:nvSpPr>
        <p:spPr>
          <a:xfrm>
            <a:off x="1508760" y="3566160"/>
            <a:ext cx="2468880" cy="365760"/>
          </a:xfrm>
          <a:prstGeom prst="rect">
            <a:avLst/>
          </a:prstGeom>
          <a:noFill/>
          <a:ln/>
        </p:spPr>
        <p:txBody>
          <a:bodyPr wrap="square" lIns="0" tIns="0" rIns="0" bIns="0" rtlCol="0" anchor="t"/>
          <a:lstStyle/>
          <a:p>
            <a:pPr indent="0" marL="0">
              <a:buNone/>
            </a:pPr>
            <a:r>
              <a:rPr lang="en-US" sz="1800" b="1" dirty="0">
                <a:solidFill>
                  <a:schemeClr val="tx1"/>
                </a:solidFill>
              </a:rPr>
              <a:t>Streamlit UI</a:t>
            </a:r>
            <a:endParaRPr lang="en-US" sz="1800" dirty="0"/>
          </a:p>
        </p:txBody>
      </p:sp>
      <p:sp>
        <p:nvSpPr>
          <p:cNvPr id="31" name="Text 23"/>
          <p:cNvSpPr txBox="1"/>
          <p:nvPr/>
        </p:nvSpPr>
        <p:spPr>
          <a:xfrm>
            <a:off x="777240" y="4206240"/>
            <a:ext cx="315468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Own memory per visitor</a:t>
            </a:r>
            <a:endParaRPr lang="en-US" sz="1600" dirty="0"/>
          </a:p>
          <a:p>
            <a:pPr marL="342900" indent="-342900">
              <a:spcAft>
                <a:spcPts val="800"/>
              </a:spcAft>
              <a:buSzPct val="100000"/>
              <a:buChar char="•"/>
            </a:pPr>
            <a:r>
              <a:rPr lang="en-US" sz="1600" dirty="0">
                <a:solidFill>
                  <a:schemeClr val="tx1"/>
                </a:solidFill>
              </a:rPr>
              <a:t>Sources and retrieval panel</a:t>
            </a:r>
            <a:endParaRPr lang="en-US" sz="1600" dirty="0"/>
          </a:p>
          <a:p>
            <a:pPr marL="342900" indent="-342900">
              <a:spcAft>
                <a:spcPts val="800"/>
              </a:spcAft>
              <a:buSzPct val="100000"/>
              <a:buChar char="•"/>
            </a:pPr>
            <a:r>
              <a:rPr lang="en-US" sz="1600" dirty="0">
                <a:solidFill>
                  <a:schemeClr val="tx1"/>
                </a:solidFill>
              </a:rPr>
              <a:t>30-question cap protects quota</a:t>
            </a:r>
            <a:endParaRPr lang="en-US" sz="1600" dirty="0"/>
          </a:p>
        </p:txBody>
      </p:sp>
      <p:sp>
        <p:nvSpPr>
          <p:cNvPr id="32" name="Docker image card"/>
          <p:cNvSpPr/>
          <p:nvPr/>
        </p:nvSpPr>
        <p:spPr>
          <a:xfrm>
            <a:off x="4297680" y="3291840"/>
            <a:ext cx="3566160" cy="2834640"/>
          </a:xfrm>
          <a:prstGeom prst="rect">
            <a:avLst/>
          </a:prstGeom>
          <a:solidFill>
            <a:schemeClr val="bg2"/>
          </a:solidFill>
          <a:ln/>
        </p:spPr>
      </p:sp>
      <p:sp>
        <p:nvSpPr>
          <p:cNvPr id="33" name="Docker image badge"/>
          <p:cNvSpPr/>
          <p:nvPr/>
        </p:nvSpPr>
        <p:spPr>
          <a:xfrm>
            <a:off x="4526280" y="3474720"/>
            <a:ext cx="548640" cy="548640"/>
          </a:xfrm>
          <a:prstGeom prst="ellipse">
            <a:avLst/>
          </a:prstGeom>
          <a:solidFill>
            <a:schemeClr val="accent1"/>
          </a:solidFill>
          <a:ln/>
        </p:spPr>
      </p:sp>
      <p:pic>
        <p:nvPicPr>
          <p:cNvPr id="34" name="Image 5" descr="Docker image">    </p:cNvPr>
          <p:cNvPicPr>
            <a:picLocks noChangeAspect="1"/>
          </p:cNvPicPr>
          <p:nvPr/>
        </p:nvPicPr>
        <p:blipFill>
          <a:blip r:embed="rId6"/>
          <a:stretch>
            <a:fillRect/>
          </a:stretch>
        </p:blipFill>
        <p:spPr>
          <a:xfrm>
            <a:off x="4663440" y="3611880"/>
            <a:ext cx="274320" cy="274320"/>
          </a:xfrm>
          <a:prstGeom prst="rect">
            <a:avLst/>
          </a:prstGeom>
        </p:spPr>
      </p:pic>
      <p:sp>
        <p:nvSpPr>
          <p:cNvPr id="35" name="Text 26"/>
          <p:cNvSpPr txBox="1"/>
          <p:nvPr/>
        </p:nvSpPr>
        <p:spPr>
          <a:xfrm>
            <a:off x="5257800" y="3566160"/>
            <a:ext cx="2468880" cy="365760"/>
          </a:xfrm>
          <a:prstGeom prst="rect">
            <a:avLst/>
          </a:prstGeom>
          <a:noFill/>
          <a:ln/>
        </p:spPr>
        <p:txBody>
          <a:bodyPr wrap="square" lIns="0" tIns="0" rIns="0" bIns="0" rtlCol="0" anchor="t"/>
          <a:lstStyle/>
          <a:p>
            <a:pPr indent="0" marL="0">
              <a:buNone/>
            </a:pPr>
            <a:r>
              <a:rPr lang="en-US" sz="1800" b="1" dirty="0">
                <a:solidFill>
                  <a:schemeClr val="tx1"/>
                </a:solidFill>
              </a:rPr>
              <a:t>Docker image</a:t>
            </a:r>
            <a:endParaRPr lang="en-US" sz="1800" dirty="0"/>
          </a:p>
        </p:txBody>
      </p:sp>
      <p:sp>
        <p:nvSpPr>
          <p:cNvPr id="36" name="Text 27"/>
          <p:cNvSpPr txBox="1"/>
          <p:nvPr/>
        </p:nvSpPr>
        <p:spPr>
          <a:xfrm>
            <a:off x="4526280" y="4206240"/>
            <a:ext cx="315468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Multi-stage build, tested in CI</a:t>
            </a:r>
            <a:endParaRPr lang="en-US" sz="1600" dirty="0"/>
          </a:p>
          <a:p>
            <a:pPr marL="342900" indent="-342900">
              <a:spcAft>
                <a:spcPts val="800"/>
              </a:spcAft>
              <a:buSzPct val="100000"/>
              <a:buChar char="•"/>
            </a:pPr>
            <a:r>
              <a:rPr lang="en-US" sz="1600" dirty="0">
                <a:solidFill>
                  <a:schemeClr val="tx1"/>
                </a:solidFill>
              </a:rPr>
              <a:t>Index built at image build</a:t>
            </a:r>
            <a:endParaRPr lang="en-US" sz="1600" dirty="0"/>
          </a:p>
          <a:p>
            <a:pPr marL="342900" indent="-342900">
              <a:spcAft>
                <a:spcPts val="800"/>
              </a:spcAft>
              <a:buSzPct val="100000"/>
              <a:buChar char="•"/>
            </a:pPr>
            <a:r>
              <a:rPr lang="en-US" sz="1600" dirty="0">
                <a:solidFill>
                  <a:schemeClr val="tx1"/>
                </a:solidFill>
              </a:rPr>
              <a:t>Runs on any Docker host</a:t>
            </a:r>
            <a:endParaRPr lang="en-US" sz="1600" dirty="0"/>
          </a:p>
        </p:txBody>
      </p:sp>
      <p:sp>
        <p:nvSpPr>
          <p:cNvPr id="37" name="Secrets card"/>
          <p:cNvSpPr/>
          <p:nvPr/>
        </p:nvSpPr>
        <p:spPr>
          <a:xfrm>
            <a:off x="8046720" y="3291840"/>
            <a:ext cx="3566160" cy="2834640"/>
          </a:xfrm>
          <a:prstGeom prst="rect">
            <a:avLst/>
          </a:prstGeom>
          <a:solidFill>
            <a:schemeClr val="bg2"/>
          </a:solidFill>
          <a:ln/>
        </p:spPr>
      </p:sp>
      <p:sp>
        <p:nvSpPr>
          <p:cNvPr id="38" name="Secrets badge"/>
          <p:cNvSpPr/>
          <p:nvPr/>
        </p:nvSpPr>
        <p:spPr>
          <a:xfrm>
            <a:off x="8275320" y="3474720"/>
            <a:ext cx="548640" cy="548640"/>
          </a:xfrm>
          <a:prstGeom prst="ellipse">
            <a:avLst/>
          </a:prstGeom>
          <a:solidFill>
            <a:schemeClr val="accent1"/>
          </a:solidFill>
          <a:ln/>
        </p:spPr>
      </p:sp>
      <p:pic>
        <p:nvPicPr>
          <p:cNvPr id="39" name="Image 6" descr="Secrets">    </p:cNvPr>
          <p:cNvPicPr>
            <a:picLocks noChangeAspect="1"/>
          </p:cNvPicPr>
          <p:nvPr/>
        </p:nvPicPr>
        <p:blipFill>
          <a:blip r:embed="rId7"/>
          <a:stretch>
            <a:fillRect/>
          </a:stretch>
        </p:blipFill>
        <p:spPr>
          <a:xfrm>
            <a:off x="8412480" y="3611880"/>
            <a:ext cx="274320" cy="274320"/>
          </a:xfrm>
          <a:prstGeom prst="rect">
            <a:avLst/>
          </a:prstGeom>
        </p:spPr>
      </p:pic>
      <p:sp>
        <p:nvSpPr>
          <p:cNvPr id="40" name="Text 30"/>
          <p:cNvSpPr txBox="1"/>
          <p:nvPr/>
        </p:nvSpPr>
        <p:spPr>
          <a:xfrm>
            <a:off x="9006840" y="3566160"/>
            <a:ext cx="2468880" cy="365760"/>
          </a:xfrm>
          <a:prstGeom prst="rect">
            <a:avLst/>
          </a:prstGeom>
          <a:noFill/>
          <a:ln/>
        </p:spPr>
        <p:txBody>
          <a:bodyPr wrap="square" lIns="0" tIns="0" rIns="0" bIns="0" rtlCol="0" anchor="t"/>
          <a:lstStyle/>
          <a:p>
            <a:pPr indent="0" marL="0">
              <a:buNone/>
            </a:pPr>
            <a:r>
              <a:rPr lang="en-US" sz="1800" b="1" dirty="0">
                <a:solidFill>
                  <a:schemeClr val="tx1"/>
                </a:solidFill>
              </a:rPr>
              <a:t>Secrets</a:t>
            </a:r>
            <a:endParaRPr lang="en-US" sz="1800" dirty="0"/>
          </a:p>
        </p:txBody>
      </p:sp>
      <p:sp>
        <p:nvSpPr>
          <p:cNvPr id="41" name="Text 31"/>
          <p:cNvSpPr txBox="1"/>
          <p:nvPr/>
        </p:nvSpPr>
        <p:spPr>
          <a:xfrm>
            <a:off x="8275320" y="4206240"/>
            <a:ext cx="315468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API key in Streamlit Secrets</a:t>
            </a:r>
            <a:endParaRPr lang="en-US" sz="1600" dirty="0"/>
          </a:p>
          <a:p>
            <a:pPr marL="342900" indent="-342900">
              <a:spcAft>
                <a:spcPts val="800"/>
              </a:spcAft>
              <a:buSzPct val="100000"/>
              <a:buChar char="•"/>
            </a:pPr>
            <a:r>
              <a:rPr lang="en-US" sz="1600" dirty="0">
                <a:solidFill>
                  <a:schemeClr val="tx1"/>
                </a:solidFill>
              </a:rPr>
              <a:t>Never in the repo or image</a:t>
            </a:r>
            <a:endParaRPr lang="en-US" sz="1600" dirty="0"/>
          </a:p>
          <a:p>
            <a:pPr marL="342900" indent="-342900">
              <a:spcAft>
                <a:spcPts val="800"/>
              </a:spcAft>
              <a:buSzPct val="100000"/>
              <a:buChar char="•"/>
            </a:pPr>
            <a:r>
              <a:rPr lang="en-US" sz="1600" dirty="0">
                <a:solidFill>
                  <a:schemeClr val="tx1"/>
                </a:solidFill>
              </a:rPr>
              <a:t>Key restricted and quota-capped</a:t>
            </a:r>
            <a:endParaRPr lang="en-US" sz="16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Results: 6 cited answers, 1 refusal, 1 safe miss</a:t>
            </a:r>
            <a:endParaRPr lang="en-US" sz="3600" dirty="0"/>
          </a:p>
        </p:txBody>
      </p:sp>
      <p:sp>
        <p:nvSpPr>
          <p:cNvPr id="4" name="Result 1"/>
          <p:cNvSpPr/>
          <p:nvPr/>
        </p:nvSpPr>
        <p:spPr>
          <a:xfrm>
            <a:off x="548640" y="1554480"/>
            <a:ext cx="3383280" cy="1371600"/>
          </a:xfrm>
          <a:prstGeom prst="rect">
            <a:avLst/>
          </a:prstGeom>
          <a:solidFill>
            <a:schemeClr val="bg2"/>
          </a:solidFill>
          <a:ln/>
        </p:spPr>
      </p:sp>
      <p:sp>
        <p:nvSpPr>
          <p:cNvPr id="5" name="Text 2"/>
          <p:cNvSpPr txBox="1"/>
          <p:nvPr/>
        </p:nvSpPr>
        <p:spPr>
          <a:xfrm>
            <a:off x="777240" y="1664208"/>
            <a:ext cx="2926080" cy="731520"/>
          </a:xfrm>
          <a:prstGeom prst="rect">
            <a:avLst/>
          </a:prstGeom>
          <a:noFill/>
          <a:ln/>
        </p:spPr>
        <p:txBody>
          <a:bodyPr wrap="square" lIns="0" tIns="0" rIns="0" bIns="0" rtlCol="0" anchor="t"/>
          <a:lstStyle/>
          <a:p>
            <a:pPr indent="0" marL="0">
              <a:buNone/>
            </a:pPr>
            <a:r>
              <a:rPr lang="en-US" sz="4000" b="1" dirty="0">
                <a:solidFill>
                  <a:schemeClr val="accent5"/>
                </a:solidFill>
                <a:latin typeface="+mj-lt" pitchFamily="34" charset="0"/>
                <a:ea typeface="+mj-lt" pitchFamily="34" charset="-122"/>
                <a:cs typeface="+mj-lt" pitchFamily="34" charset="-120"/>
              </a:rPr>
              <a:t>6 of 8</a:t>
            </a:r>
            <a:endParaRPr lang="en-US" sz="4000" dirty="0"/>
          </a:p>
        </p:txBody>
      </p:sp>
      <p:sp>
        <p:nvSpPr>
          <p:cNvPr id="6" name="Text 3"/>
          <p:cNvSpPr txBox="1"/>
          <p:nvPr/>
        </p:nvSpPr>
        <p:spPr>
          <a:xfrm>
            <a:off x="777240" y="2395728"/>
            <a:ext cx="2926080" cy="457200"/>
          </a:xfrm>
          <a:prstGeom prst="rect">
            <a:avLst/>
          </a:prstGeom>
          <a:noFill/>
          <a:ln/>
        </p:spPr>
        <p:txBody>
          <a:bodyPr wrap="square" lIns="0" tIns="0" rIns="0" bIns="0" rtlCol="0" anchor="t"/>
          <a:lstStyle/>
          <a:p>
            <a:pPr indent="0" marL="0">
              <a:buNone/>
            </a:pPr>
            <a:r>
              <a:rPr lang="en-US" sz="1400" dirty="0">
                <a:solidFill>
                  <a:schemeClr val="tx1"/>
                </a:solidFill>
              </a:rPr>
              <a:t>correct, grounded, cited answers</a:t>
            </a:r>
            <a:endParaRPr lang="en-US" sz="1400" dirty="0"/>
          </a:p>
        </p:txBody>
      </p:sp>
      <p:sp>
        <p:nvSpPr>
          <p:cNvPr id="7" name="Result 2"/>
          <p:cNvSpPr/>
          <p:nvPr/>
        </p:nvSpPr>
        <p:spPr>
          <a:xfrm>
            <a:off x="548640" y="3063240"/>
            <a:ext cx="3383280" cy="1371600"/>
          </a:xfrm>
          <a:prstGeom prst="rect">
            <a:avLst/>
          </a:prstGeom>
          <a:solidFill>
            <a:schemeClr val="bg2"/>
          </a:solidFill>
          <a:ln/>
        </p:spPr>
      </p:sp>
      <p:sp>
        <p:nvSpPr>
          <p:cNvPr id="8" name="Text 5"/>
          <p:cNvSpPr txBox="1"/>
          <p:nvPr/>
        </p:nvSpPr>
        <p:spPr>
          <a:xfrm>
            <a:off x="777240" y="3172968"/>
            <a:ext cx="2926080" cy="731520"/>
          </a:xfrm>
          <a:prstGeom prst="rect">
            <a:avLst/>
          </a:prstGeom>
          <a:noFill/>
          <a:ln/>
        </p:spPr>
        <p:txBody>
          <a:bodyPr wrap="square" lIns="0" tIns="0" rIns="0" bIns="0" rtlCol="0" anchor="t"/>
          <a:lstStyle/>
          <a:p>
            <a:pPr indent="0" marL="0">
              <a:buNone/>
            </a:pPr>
            <a:r>
              <a:rPr lang="en-US" sz="4000" b="1" dirty="0">
                <a:solidFill>
                  <a:schemeClr val="accent2"/>
                </a:solidFill>
                <a:latin typeface="+mj-lt" pitchFamily="34" charset="0"/>
                <a:ea typeface="+mj-lt" pitchFamily="34" charset="-122"/>
                <a:cs typeface="+mj-lt" pitchFamily="34" charset="-120"/>
              </a:rPr>
              <a:t>1</a:t>
            </a:r>
            <a:endParaRPr lang="en-US" sz="4000" dirty="0"/>
          </a:p>
        </p:txBody>
      </p:sp>
      <p:sp>
        <p:nvSpPr>
          <p:cNvPr id="9" name="Text 6"/>
          <p:cNvSpPr txBox="1"/>
          <p:nvPr/>
        </p:nvSpPr>
        <p:spPr>
          <a:xfrm>
            <a:off x="777240" y="3904488"/>
            <a:ext cx="2926080" cy="457200"/>
          </a:xfrm>
          <a:prstGeom prst="rect">
            <a:avLst/>
          </a:prstGeom>
          <a:noFill/>
          <a:ln/>
        </p:spPr>
        <p:txBody>
          <a:bodyPr wrap="square" lIns="0" tIns="0" rIns="0" bIns="0" rtlCol="0" anchor="t"/>
          <a:lstStyle/>
          <a:p>
            <a:pPr indent="0" marL="0">
              <a:buNone/>
            </a:pPr>
            <a:r>
              <a:rPr lang="en-US" sz="1400" dirty="0">
                <a:solidFill>
                  <a:schemeClr val="tx1"/>
                </a:solidFill>
              </a:rPr>
              <a:t>correct out-of-scope refusal</a:t>
            </a:r>
            <a:endParaRPr lang="en-US" sz="1400" dirty="0"/>
          </a:p>
        </p:txBody>
      </p:sp>
      <p:sp>
        <p:nvSpPr>
          <p:cNvPr id="10" name="Result 3"/>
          <p:cNvSpPr/>
          <p:nvPr/>
        </p:nvSpPr>
        <p:spPr>
          <a:xfrm>
            <a:off x="548640" y="4572000"/>
            <a:ext cx="3383280" cy="1371600"/>
          </a:xfrm>
          <a:prstGeom prst="rect">
            <a:avLst/>
          </a:prstGeom>
          <a:solidFill>
            <a:schemeClr val="bg2"/>
          </a:solidFill>
          <a:ln/>
        </p:spPr>
      </p:sp>
      <p:sp>
        <p:nvSpPr>
          <p:cNvPr id="11" name="Text 8"/>
          <p:cNvSpPr txBox="1"/>
          <p:nvPr/>
        </p:nvSpPr>
        <p:spPr>
          <a:xfrm>
            <a:off x="777240" y="4681728"/>
            <a:ext cx="2926080" cy="731520"/>
          </a:xfrm>
          <a:prstGeom prst="rect">
            <a:avLst/>
          </a:prstGeom>
          <a:noFill/>
          <a:ln/>
        </p:spPr>
        <p:txBody>
          <a:bodyPr wrap="square" lIns="0" tIns="0" rIns="0" bIns="0" rtlCol="0" anchor="t"/>
          <a:lstStyle/>
          <a:p>
            <a:pPr indent="0" marL="0">
              <a:buNone/>
            </a:pPr>
            <a:r>
              <a:rPr lang="en-US" sz="4000" b="1" dirty="0">
                <a:solidFill>
                  <a:schemeClr val="tx1"/>
                </a:solidFill>
                <a:latin typeface="+mj-lt" pitchFamily="34" charset="0"/>
                <a:ea typeface="+mj-lt" pitchFamily="34" charset="-122"/>
                <a:cs typeface="+mj-lt" pitchFamily="34" charset="-120"/>
              </a:rPr>
              <a:t>1</a:t>
            </a:r>
            <a:endParaRPr lang="en-US" sz="4000" dirty="0"/>
          </a:p>
        </p:txBody>
      </p:sp>
      <p:sp>
        <p:nvSpPr>
          <p:cNvPr id="12" name="Text 9"/>
          <p:cNvSpPr txBox="1"/>
          <p:nvPr/>
        </p:nvSpPr>
        <p:spPr>
          <a:xfrm>
            <a:off x="777240" y="5413248"/>
            <a:ext cx="2926080" cy="457200"/>
          </a:xfrm>
          <a:prstGeom prst="rect">
            <a:avLst/>
          </a:prstGeom>
          <a:noFill/>
          <a:ln/>
        </p:spPr>
        <p:txBody>
          <a:bodyPr wrap="square" lIns="0" tIns="0" rIns="0" bIns="0" rtlCol="0" anchor="t"/>
          <a:lstStyle/>
          <a:p>
            <a:pPr indent="0" marL="0">
              <a:buNone/>
            </a:pPr>
            <a:r>
              <a:rPr lang="en-US" sz="1400" dirty="0">
                <a:solidFill>
                  <a:schemeClr val="tx1"/>
                </a:solidFill>
              </a:rPr>
              <a:t>safe miss: no invented answer</a:t>
            </a:r>
            <a:endParaRPr lang="en-US" sz="1400" dirty="0"/>
          </a:p>
        </p:txBody>
      </p:sp>
      <p:graphicFrame>
        <p:nvGraphicFramePr>
          <p:cNvPr id="11" name="Evaluation table"/>
          <p:cNvGraphicFramePr>
            <a:graphicFrameLocks noGrp="1"/>
          </p:cNvGraphicFramePr>
          <p:nvPr>
            <p:extLst>
              <p:ext uri="{D42A27DB-BD31-4B8C-83A1-F6EECF244321}">
                <p14:modId xmlns:p14="http://schemas.microsoft.com/office/powerpoint/2010/main" val="1579011935"/>
              </p:ext>
            </p:extLst>
          </p:nvPr>
        </p:nvGraphicFramePr>
        <p:xfrm>
          <a:off x="4297680" y="1554480"/>
          <a:ext cx="7315200" cy="914400"/>
        </p:xfrm>
        <a:graphic>
          <a:graphicData uri="http://schemas.openxmlformats.org/drawingml/2006/table">
            <a:tbl>
              <a:tblPr/>
              <a:tblGrid>
                <a:gridCol w="457200"/>
                <a:gridCol w="3017520"/>
                <a:gridCol w="3840480"/>
              </a:tblGrid>
              <a:tr h="457200">
                <a:tc>
                  <a:txBody>
                    <a:bodyPr/>
                    <a:lstStyle/>
                    <a:p>
                      <a:pPr indent="0" marL="0">
                        <a:buNone/>
                      </a:pPr>
                      <a:r>
                        <a:rPr lang="en-US" sz="1400" b="1" dirty="0">
                          <a:solidFill>
                            <a:schemeClr val="bg1"/>
                          </a:solidFill>
                        </a:rPr>
                        <a:t>#</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Question</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Outcome</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1</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Prereqs for IS 104?</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cited: IS 103</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2</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“How many units is it?”</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4"/>
                          </a:solidFill>
                        </a:rPr>
                        <a:t>Safe miss: lacked the unit count</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3</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GWA for Latin honors?</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cited: 1.75 or better</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4</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Haiku about databases</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refusal (out of scope)</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5</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“What about CC 105?”</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IPT 101 and CC 104</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6</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Units on probation?</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15 units</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7</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First year, first sem?</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10 courses (filter)</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457200">
                <a:tc>
                  <a:txBody>
                    <a:bodyPr/>
                    <a:lstStyle/>
                    <a:p>
                      <a:pPr indent="0" marL="0">
                        <a:buNone/>
                      </a:pPr>
                      <a:r>
                        <a:rPr lang="en-US" sz="1400" dirty="0">
                          <a:solidFill>
                            <a:schemeClr val="tx1"/>
                          </a:solidFill>
                        </a:rPr>
                        <a:t>8</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rPr>
                        <a:t>“What about second sem?”</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indent="0" marL="0">
                        <a:buNone/>
                      </a:pPr>
                      <a:r>
                        <a:rPr lang="en-US" sz="1400" b="1" dirty="0">
                          <a:solidFill>
                            <a:schemeClr val="accent5"/>
                          </a:solidFill>
                        </a:rPr>
                        <a:t>Correct: 8 courses (filter)</a:t>
                      </a:r>
                      <a:endParaRPr lang="en-US" sz="1400" dirty="0"/>
                    </a:p>
                  </a:txBody>
                  <a:tcPr marL="91440" marR="91440" marT="0" marB="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rPr>
              <a:t>Limitations and next steps</a:t>
            </a:r>
            <a:endParaRPr lang="en-US" sz="3600" dirty="0"/>
          </a:p>
        </p:txBody>
      </p:sp>
      <p:sp>
        <p:nvSpPr>
          <p:cNvPr id="4" name="Limitations card"/>
          <p:cNvSpPr/>
          <p:nvPr/>
        </p:nvSpPr>
        <p:spPr>
          <a:xfrm>
            <a:off x="548640" y="1554480"/>
            <a:ext cx="5394960" cy="4526280"/>
          </a:xfrm>
          <a:prstGeom prst="rect">
            <a:avLst/>
          </a:prstGeom>
          <a:solidFill>
            <a:schemeClr val="bg2"/>
          </a:solidFill>
          <a:ln/>
        </p:spPr>
      </p:sp>
      <p:sp>
        <p:nvSpPr>
          <p:cNvPr id="5" name="Limitations badge"/>
          <p:cNvSpPr/>
          <p:nvPr/>
        </p:nvSpPr>
        <p:spPr>
          <a:xfrm>
            <a:off x="822960" y="1783080"/>
            <a:ext cx="640080" cy="640080"/>
          </a:xfrm>
          <a:prstGeom prst="ellipse">
            <a:avLst/>
          </a:prstGeom>
          <a:solidFill>
            <a:schemeClr val="accent1"/>
          </a:solidFill>
          <a:ln/>
        </p:spPr>
      </p:sp>
      <p:pic>
        <p:nvPicPr>
          <p:cNvPr id="6" name="Image 0" descr="Limitations">    </p:cNvPr>
          <p:cNvPicPr>
            <a:picLocks noChangeAspect="1"/>
          </p:cNvPicPr>
          <p:nvPr/>
        </p:nvPicPr>
        <p:blipFill>
          <a:blip r:embed="rId1"/>
          <a:stretch>
            <a:fillRect/>
          </a:stretch>
        </p:blipFill>
        <p:spPr>
          <a:xfrm>
            <a:off x="982980" y="1943100"/>
            <a:ext cx="320040" cy="320040"/>
          </a:xfrm>
          <a:prstGeom prst="rect">
            <a:avLst/>
          </a:prstGeom>
        </p:spPr>
      </p:pic>
      <p:sp>
        <p:nvSpPr>
          <p:cNvPr id="7" name="Text 3"/>
          <p:cNvSpPr txBox="1"/>
          <p:nvPr/>
        </p:nvSpPr>
        <p:spPr>
          <a:xfrm>
            <a:off x="1645920" y="1874520"/>
            <a:ext cx="4114800" cy="457200"/>
          </a:xfrm>
          <a:prstGeom prst="rect">
            <a:avLst/>
          </a:prstGeom>
          <a:noFill/>
          <a:ln/>
        </p:spPr>
        <p:txBody>
          <a:bodyPr wrap="square" lIns="0" tIns="0" rIns="0" bIns="0" rtlCol="0" anchor="t"/>
          <a:lstStyle/>
          <a:p>
            <a:pPr indent="0" marL="0">
              <a:buNone/>
            </a:pPr>
            <a:r>
              <a:rPr lang="en-US" sz="2200" b="1" dirty="0">
                <a:solidFill>
                  <a:schemeClr val="tx1"/>
                </a:solidFill>
              </a:rPr>
              <a:t>Limitations</a:t>
            </a:r>
            <a:endParaRPr lang="en-US" sz="2200" dirty="0"/>
          </a:p>
        </p:txBody>
      </p:sp>
      <p:sp>
        <p:nvSpPr>
          <p:cNvPr id="8" name="Text 4"/>
          <p:cNvSpPr txBox="1"/>
          <p:nvPr/>
        </p:nvSpPr>
        <p:spPr>
          <a:xfrm>
            <a:off x="822960" y="2651760"/>
            <a:ext cx="4846320" cy="32004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Top-4 retrieval can miss the one chunk with a fact</a:t>
            </a:r>
            <a:endParaRPr lang="en-US" sz="1800" dirty="0"/>
          </a:p>
          <a:p>
            <a:pPr marL="342900" indent="-342900">
              <a:spcAft>
                <a:spcPts val="1200"/>
              </a:spcAft>
              <a:buSzPct val="100000"/>
              <a:buChar char="•"/>
            </a:pPr>
            <a:r>
              <a:rPr lang="en-US" sz="1800" dirty="0">
                <a:solidFill>
                  <a:schemeClr val="tx1"/>
                </a:solidFill>
              </a:rPr>
              <a:t>5 of 23 documents are simulated, so policy answers are not official</a:t>
            </a:r>
            <a:endParaRPr lang="en-US" sz="1800" dirty="0"/>
          </a:p>
          <a:p>
            <a:pPr marL="342900" indent="-342900">
              <a:spcAft>
                <a:spcPts val="1200"/>
              </a:spcAft>
              <a:buSzPct val="100000"/>
              <a:buChar char="•"/>
            </a:pPr>
            <a:r>
              <a:rPr lang="en-US" sz="1800" dirty="0">
                <a:solidFill>
                  <a:schemeClr val="tx1"/>
                </a:solidFill>
              </a:rPr>
              <a:t>No student records: explains rules, cannot check eligibility</a:t>
            </a:r>
            <a:endParaRPr lang="en-US" sz="1800" dirty="0"/>
          </a:p>
          <a:p>
            <a:pPr marL="342900" indent="-342900">
              <a:spcAft>
                <a:spcPts val="1200"/>
              </a:spcAft>
              <a:buSzPct val="100000"/>
              <a:buChar char="•"/>
            </a:pPr>
            <a:r>
              <a:rPr lang="en-US" sz="1800" dirty="0">
                <a:solidFill>
                  <a:schemeClr val="tx1"/>
                </a:solidFill>
              </a:rPr>
              <a:t>Depends on the Gemini free-tier quota</a:t>
            </a:r>
            <a:endParaRPr lang="en-US" sz="1800" dirty="0"/>
          </a:p>
        </p:txBody>
      </p:sp>
      <p:sp>
        <p:nvSpPr>
          <p:cNvPr id="9" name="Next steps card"/>
          <p:cNvSpPr/>
          <p:nvPr/>
        </p:nvSpPr>
        <p:spPr>
          <a:xfrm>
            <a:off x="6217920" y="1554480"/>
            <a:ext cx="5394960" cy="4526280"/>
          </a:xfrm>
          <a:prstGeom prst="rect">
            <a:avLst/>
          </a:prstGeom>
          <a:solidFill>
            <a:schemeClr val="tx1"/>
          </a:solidFill>
          <a:ln/>
        </p:spPr>
      </p:sp>
      <p:sp>
        <p:nvSpPr>
          <p:cNvPr id="10" name="Next steps badge"/>
          <p:cNvSpPr/>
          <p:nvPr/>
        </p:nvSpPr>
        <p:spPr>
          <a:xfrm>
            <a:off x="6492240" y="1783080"/>
            <a:ext cx="640080" cy="640080"/>
          </a:xfrm>
          <a:prstGeom prst="ellipse">
            <a:avLst/>
          </a:prstGeom>
          <a:solidFill>
            <a:schemeClr val="accent1"/>
          </a:solidFill>
          <a:ln/>
        </p:spPr>
      </p:sp>
      <p:pic>
        <p:nvPicPr>
          <p:cNvPr id="11" name="Image 1" descr="Next steps">    </p:cNvPr>
          <p:cNvPicPr>
            <a:picLocks noChangeAspect="1"/>
          </p:cNvPicPr>
          <p:nvPr/>
        </p:nvPicPr>
        <p:blipFill>
          <a:blip r:embed="rId2"/>
          <a:stretch>
            <a:fillRect/>
          </a:stretch>
        </p:blipFill>
        <p:spPr>
          <a:xfrm>
            <a:off x="6652260" y="1943100"/>
            <a:ext cx="320040" cy="320040"/>
          </a:xfrm>
          <a:prstGeom prst="rect">
            <a:avLst/>
          </a:prstGeom>
        </p:spPr>
      </p:pic>
      <p:sp>
        <p:nvSpPr>
          <p:cNvPr id="12" name="Text 7"/>
          <p:cNvSpPr txBox="1"/>
          <p:nvPr/>
        </p:nvSpPr>
        <p:spPr>
          <a:xfrm>
            <a:off x="7315200" y="1874520"/>
            <a:ext cx="4114800" cy="457200"/>
          </a:xfrm>
          <a:prstGeom prst="rect">
            <a:avLst/>
          </a:prstGeom>
          <a:noFill/>
          <a:ln/>
        </p:spPr>
        <p:txBody>
          <a:bodyPr wrap="square" lIns="0" tIns="0" rIns="0" bIns="0" rtlCol="0" anchor="t"/>
          <a:lstStyle/>
          <a:p>
            <a:pPr indent="0" marL="0">
              <a:buNone/>
            </a:pPr>
            <a:r>
              <a:rPr lang="en-US" sz="2200" b="1" dirty="0">
                <a:solidFill>
                  <a:schemeClr val="bg1"/>
                </a:solidFill>
              </a:rPr>
              <a:t>Next steps</a:t>
            </a:r>
            <a:endParaRPr lang="en-US" sz="2200" dirty="0"/>
          </a:p>
        </p:txBody>
      </p:sp>
      <p:sp>
        <p:nvSpPr>
          <p:cNvPr id="13" name="Text 8"/>
          <p:cNvSpPr txBox="1"/>
          <p:nvPr/>
        </p:nvSpPr>
        <p:spPr>
          <a:xfrm>
            <a:off x="6492240" y="2651760"/>
            <a:ext cx="4846320" cy="32004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Hybrid keyword + vector search with a reranker</a:t>
            </a:r>
            <a:endParaRPr lang="en-US" sz="1800" dirty="0"/>
          </a:p>
          <a:p>
            <a:pPr marL="342900" indent="-342900">
              <a:spcAft>
                <a:spcPts val="1200"/>
              </a:spcAft>
              <a:buSzPct val="100000"/>
              <a:buChar char="•"/>
            </a:pPr>
            <a:r>
              <a:rPr lang="en-US" sz="1800" dirty="0">
                <a:solidFill>
                  <a:schemeClr val="bg1"/>
                </a:solidFill>
              </a:rPr>
              <a:t>Larger automated test set, including Year 4</a:t>
            </a:r>
            <a:endParaRPr lang="en-US" sz="1800" dirty="0"/>
          </a:p>
          <a:p>
            <a:pPr marL="342900" indent="-342900">
              <a:spcAft>
                <a:spcPts val="1200"/>
              </a:spcAft>
              <a:buSzPct val="100000"/>
              <a:buChar char="•"/>
            </a:pPr>
            <a:r>
              <a:rPr lang="en-US" sz="1800" dirty="0">
                <a:solidFill>
                  <a:schemeClr val="bg1"/>
                </a:solidFill>
              </a:rPr>
              <a:t>Fine-tune the embedder; measure recall@4</a:t>
            </a:r>
            <a:endParaRPr lang="en-US" sz="1800" dirty="0"/>
          </a:p>
          <a:p>
            <a:pPr marL="342900" indent="-342900">
              <a:spcAft>
                <a:spcPts val="1200"/>
              </a:spcAft>
              <a:buSzPct val="100000"/>
              <a:buChar char="•"/>
            </a:pPr>
            <a:r>
              <a:rPr lang="en-US" sz="1800" dirty="0">
                <a:solidFill>
                  <a:schemeClr val="bg1"/>
                </a:solidFill>
              </a:rPr>
              <a:t>Replace simulated documents with official TPC policies</a:t>
            </a:r>
            <a:endParaRPr lang="en-US" sz="18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bg1"/>
                </a:solidFill>
              </a:rPr>
              <a:t>Pathfinder: grounded, honest, deployed</a:t>
            </a:r>
            <a:endParaRPr lang="en-US" sz="3600" dirty="0"/>
          </a:p>
        </p:txBody>
      </p:sp>
      <p:sp>
        <p:nvSpPr>
          <p:cNvPr id="4" name="Grounded badge"/>
          <p:cNvSpPr/>
          <p:nvPr/>
        </p:nvSpPr>
        <p:spPr>
          <a:xfrm>
            <a:off x="548640" y="1737360"/>
            <a:ext cx="822960" cy="822960"/>
          </a:xfrm>
          <a:prstGeom prst="ellipse">
            <a:avLst/>
          </a:prstGeom>
          <a:solidFill>
            <a:schemeClr val="accent1"/>
          </a:solidFill>
          <a:ln/>
        </p:spPr>
      </p:sp>
      <p:pic>
        <p:nvPicPr>
          <p:cNvPr id="5" name="Image 0" descr="Grounded">    </p:cNvPr>
          <p:cNvPicPr>
            <a:picLocks noChangeAspect="1"/>
          </p:cNvPicPr>
          <p:nvPr/>
        </p:nvPicPr>
        <p:blipFill>
          <a:blip r:embed="rId1"/>
          <a:stretch>
            <a:fillRect/>
          </a:stretch>
        </p:blipFill>
        <p:spPr>
          <a:xfrm>
            <a:off x="754380" y="1943100"/>
            <a:ext cx="411480" cy="411480"/>
          </a:xfrm>
          <a:prstGeom prst="rect">
            <a:avLst/>
          </a:prstGeom>
        </p:spPr>
      </p:pic>
      <p:sp>
        <p:nvSpPr>
          <p:cNvPr id="6" name="Text 2"/>
          <p:cNvSpPr txBox="1"/>
          <p:nvPr/>
        </p:nvSpPr>
        <p:spPr>
          <a:xfrm>
            <a:off x="548640" y="2834640"/>
            <a:ext cx="3383280" cy="50292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Grounded</a:t>
            </a:r>
            <a:endParaRPr lang="en-US" sz="2600" dirty="0"/>
          </a:p>
        </p:txBody>
      </p:sp>
      <p:sp>
        <p:nvSpPr>
          <p:cNvPr id="7" name="Text 3"/>
          <p:cNvSpPr txBox="1"/>
          <p:nvPr/>
        </p:nvSpPr>
        <p:spPr>
          <a:xfrm>
            <a:off x="548640" y="3474720"/>
            <a:ext cx="3383280" cy="1463040"/>
          </a:xfrm>
          <a:prstGeom prst="rect">
            <a:avLst/>
          </a:prstGeom>
          <a:noFill/>
          <a:ln/>
        </p:spPr>
        <p:txBody>
          <a:bodyPr wrap="square" lIns="0" tIns="0" rIns="0" bIns="0" rtlCol="0" anchor="t"/>
          <a:lstStyle/>
          <a:p>
            <a:pPr indent="0" marL="0">
              <a:buNone/>
            </a:pPr>
            <a:r>
              <a:rPr lang="en-US" sz="1600" dirty="0">
                <a:solidFill>
                  <a:schemeClr val="bg2"/>
                </a:solidFill>
              </a:rPr>
              <a:t>Every answer comes from our knowledge base and names its source document.</a:t>
            </a:r>
            <a:endParaRPr lang="en-US" sz="1600" dirty="0"/>
          </a:p>
        </p:txBody>
      </p:sp>
      <p:sp>
        <p:nvSpPr>
          <p:cNvPr id="8" name="Honest badge"/>
          <p:cNvSpPr/>
          <p:nvPr/>
        </p:nvSpPr>
        <p:spPr>
          <a:xfrm>
            <a:off x="4297680" y="1737360"/>
            <a:ext cx="822960" cy="822960"/>
          </a:xfrm>
          <a:prstGeom prst="ellipse">
            <a:avLst/>
          </a:prstGeom>
          <a:solidFill>
            <a:schemeClr val="accent1"/>
          </a:solidFill>
          <a:ln/>
        </p:spPr>
      </p:sp>
      <p:pic>
        <p:nvPicPr>
          <p:cNvPr id="9" name="Image 1" descr="Honest">    </p:cNvPr>
          <p:cNvPicPr>
            <a:picLocks noChangeAspect="1"/>
          </p:cNvPicPr>
          <p:nvPr/>
        </p:nvPicPr>
        <p:blipFill>
          <a:blip r:embed="rId2"/>
          <a:stretch>
            <a:fillRect/>
          </a:stretch>
        </p:blipFill>
        <p:spPr>
          <a:xfrm>
            <a:off x="4503420" y="1943100"/>
            <a:ext cx="411480" cy="411480"/>
          </a:xfrm>
          <a:prstGeom prst="rect">
            <a:avLst/>
          </a:prstGeom>
        </p:spPr>
      </p:pic>
      <p:sp>
        <p:nvSpPr>
          <p:cNvPr id="10" name="Text 5"/>
          <p:cNvSpPr txBox="1"/>
          <p:nvPr/>
        </p:nvSpPr>
        <p:spPr>
          <a:xfrm>
            <a:off x="4297680" y="2834640"/>
            <a:ext cx="3383280" cy="50292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Honest</a:t>
            </a:r>
            <a:endParaRPr lang="en-US" sz="2600" dirty="0"/>
          </a:p>
        </p:txBody>
      </p:sp>
      <p:sp>
        <p:nvSpPr>
          <p:cNvPr id="11" name="Text 6"/>
          <p:cNvSpPr txBox="1"/>
          <p:nvPr/>
        </p:nvSpPr>
        <p:spPr>
          <a:xfrm>
            <a:off x="4297680" y="3474720"/>
            <a:ext cx="3383280" cy="1463040"/>
          </a:xfrm>
          <a:prstGeom prst="rect">
            <a:avLst/>
          </a:prstGeom>
          <a:noFill/>
          <a:ln/>
        </p:spPr>
        <p:txBody>
          <a:bodyPr wrap="square" lIns="0" tIns="0" rIns="0" bIns="0" rtlCol="0" anchor="t"/>
          <a:lstStyle/>
          <a:p>
            <a:pPr indent="0" marL="0">
              <a:buNone/>
            </a:pPr>
            <a:r>
              <a:rPr lang="en-US" sz="1600" dirty="0">
                <a:solidFill>
                  <a:schemeClr val="bg2"/>
                </a:solidFill>
              </a:rPr>
              <a:t>It refuses off-topic questions and says “I don’t have that information” instead of guessing.</a:t>
            </a:r>
            <a:endParaRPr lang="en-US" sz="1600" dirty="0"/>
          </a:p>
        </p:txBody>
      </p:sp>
      <p:sp>
        <p:nvSpPr>
          <p:cNvPr id="12" name="Deployed badge"/>
          <p:cNvSpPr/>
          <p:nvPr/>
        </p:nvSpPr>
        <p:spPr>
          <a:xfrm>
            <a:off x="8046720" y="1737360"/>
            <a:ext cx="822960" cy="822960"/>
          </a:xfrm>
          <a:prstGeom prst="ellipse">
            <a:avLst/>
          </a:prstGeom>
          <a:solidFill>
            <a:schemeClr val="accent1"/>
          </a:solidFill>
          <a:ln/>
        </p:spPr>
      </p:sp>
      <p:pic>
        <p:nvPicPr>
          <p:cNvPr id="13" name="Image 2" descr="Deployed">    </p:cNvPr>
          <p:cNvPicPr>
            <a:picLocks noChangeAspect="1"/>
          </p:cNvPicPr>
          <p:nvPr/>
        </p:nvPicPr>
        <p:blipFill>
          <a:blip r:embed="rId3"/>
          <a:stretch>
            <a:fillRect/>
          </a:stretch>
        </p:blipFill>
        <p:spPr>
          <a:xfrm>
            <a:off x="8252460" y="1943100"/>
            <a:ext cx="411480" cy="411480"/>
          </a:xfrm>
          <a:prstGeom prst="rect">
            <a:avLst/>
          </a:prstGeom>
        </p:spPr>
      </p:pic>
      <p:sp>
        <p:nvSpPr>
          <p:cNvPr id="14" name="Text 8"/>
          <p:cNvSpPr txBox="1"/>
          <p:nvPr/>
        </p:nvSpPr>
        <p:spPr>
          <a:xfrm>
            <a:off x="8046720" y="2834640"/>
            <a:ext cx="3383280" cy="50292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Deployed</a:t>
            </a:r>
            <a:endParaRPr lang="en-US" sz="2600" dirty="0"/>
          </a:p>
        </p:txBody>
      </p:sp>
      <p:sp>
        <p:nvSpPr>
          <p:cNvPr id="15" name="Text 9"/>
          <p:cNvSpPr txBox="1"/>
          <p:nvPr/>
        </p:nvSpPr>
        <p:spPr>
          <a:xfrm>
            <a:off x="8046720" y="3474720"/>
            <a:ext cx="3383280" cy="1463040"/>
          </a:xfrm>
          <a:prstGeom prst="rect">
            <a:avLst/>
          </a:prstGeom>
          <a:noFill/>
          <a:ln/>
        </p:spPr>
        <p:txBody>
          <a:bodyPr wrap="square" lIns="0" tIns="0" rIns="0" bIns="0" rtlCol="0" anchor="t"/>
          <a:lstStyle/>
          <a:p>
            <a:pPr indent="0" marL="0">
              <a:buNone/>
            </a:pPr>
            <a:r>
              <a:rPr lang="en-US" sz="1600" dirty="0">
                <a:solidFill>
                  <a:schemeClr val="bg2"/>
                </a:solidFill>
              </a:rPr>
              <a:t>Containerized with Docker, tested by CI, available on a public URL.</a:t>
            </a:r>
            <a:endParaRPr lang="en-US" sz="1600" dirty="0"/>
          </a:p>
        </p:txBody>
      </p:sp>
      <p:sp>
        <p:nvSpPr>
          <p:cNvPr id="16" name="Text 10"/>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Thank you. Now, the live demo.</a:t>
            </a:r>
            <a:endParaRPr lang="en-US" sz="28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ctr"/>
          <a:lstStyle/>
          <a:p>
            <a:pPr algn="l" indent="0" marL="0">
              <a:buNone/>
            </a:pPr>
            <a:r>
              <a:rPr lang="en-US" sz="3600" b="1" dirty="0">
                <a:solidFill>
                  <a:schemeClr val="bg1"/>
                </a:solidFill>
              </a:rPr>
              <a:t>Live demo</a:t>
            </a:r>
            <a:endParaRPr lang="en-US" sz="3600" dirty="0"/>
          </a:p>
        </p:txBody>
      </p:sp>
      <p:sp>
        <p:nvSpPr>
          <p:cNvPr id="4" name="URL card"/>
          <p:cNvSpPr/>
          <p:nvPr/>
        </p:nvSpPr>
        <p:spPr>
          <a:xfrm>
            <a:off x="548640" y="1554480"/>
            <a:ext cx="4572000" cy="4526280"/>
          </a:xfrm>
          <a:prstGeom prst="rect">
            <a:avLst/>
          </a:prstGeom>
          <a:solidFill>
            <a:schemeClr val="accent3"/>
          </a:solidFill>
          <a:ln/>
        </p:spPr>
      </p:sp>
      <p:sp>
        <p:nvSpPr>
          <p:cNvPr id="5" name="Text 2"/>
          <p:cNvSpPr txBox="1"/>
          <p:nvPr/>
        </p:nvSpPr>
        <p:spPr>
          <a:xfrm>
            <a:off x="822960" y="1828800"/>
            <a:ext cx="4023360" cy="365760"/>
          </a:xfrm>
          <a:prstGeom prst="rect">
            <a:avLst/>
          </a:prstGeom>
          <a:noFill/>
          <a:ln/>
        </p:spPr>
        <p:txBody>
          <a:bodyPr wrap="square" lIns="0" tIns="0" rIns="0" bIns="0" rtlCol="0" anchor="t"/>
          <a:lstStyle/>
          <a:p>
            <a:pPr indent="0" marL="0">
              <a:buNone/>
            </a:pPr>
            <a:r>
              <a:rPr lang="en-US" sz="1400" b="1" dirty="0">
                <a:solidFill>
                  <a:schemeClr val="accent1"/>
                </a:solidFill>
              </a:rPr>
              <a:t>OPEN THE DEPLOYED APP</a:t>
            </a:r>
            <a:endParaRPr lang="en-US" sz="1400" dirty="0"/>
          </a:p>
        </p:txBody>
      </p:sp>
      <p:sp>
        <p:nvSpPr>
          <p:cNvPr id="6" name="Text 3"/>
          <p:cNvSpPr txBox="1"/>
          <p:nvPr/>
        </p:nvSpPr>
        <p:spPr>
          <a:xfrm>
            <a:off x="822960" y="2377440"/>
            <a:ext cx="4023360" cy="128016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[paste your Streamlit app URL here]</a:t>
            </a:r>
            <a:endParaRPr lang="en-US" sz="2600" dirty="0"/>
          </a:p>
        </p:txBody>
      </p:sp>
      <p:sp>
        <p:nvSpPr>
          <p:cNvPr id="7" name="Text 4"/>
          <p:cNvSpPr txBox="1"/>
          <p:nvPr/>
        </p:nvSpPr>
        <p:spPr>
          <a:xfrm>
            <a:off x="822960" y="4023360"/>
            <a:ext cx="4023360" cy="1463040"/>
          </a:xfrm>
          <a:prstGeom prst="rect">
            <a:avLst/>
          </a:prstGeom>
          <a:noFill/>
          <a:ln/>
        </p:spPr>
        <p:txBody>
          <a:bodyPr wrap="square" lIns="0" tIns="0" rIns="0" bIns="0" rtlCol="0" anchor="t"/>
          <a:lstStyle/>
          <a:p>
            <a:pPr indent="0" marL="0">
              <a:buNone/>
            </a:pPr>
            <a:r>
              <a:rPr lang="en-US" sz="1600" dirty="0">
                <a:solidFill>
                  <a:schemeClr val="bg1"/>
                </a:solidFill>
              </a:rPr>
              <a:t>Click “New conversation” first. Expand “Sources &amp; retrieval details” under the first answer.</a:t>
            </a:r>
            <a:endParaRPr lang="en-US" sz="1600" dirty="0"/>
          </a:p>
        </p:txBody>
      </p:sp>
      <p:sp>
        <p:nvSpPr>
          <p:cNvPr id="8" name="Text 5"/>
          <p:cNvSpPr txBox="1"/>
          <p:nvPr/>
        </p:nvSpPr>
        <p:spPr>
          <a:xfrm>
            <a:off x="5577840" y="1600200"/>
            <a:ext cx="6035040" cy="411480"/>
          </a:xfrm>
          <a:prstGeom prst="rect">
            <a:avLst/>
          </a:prstGeom>
          <a:noFill/>
          <a:ln/>
        </p:spPr>
        <p:txBody>
          <a:bodyPr wrap="square" lIns="0" tIns="0" rIns="0" bIns="0" rtlCol="0" anchor="t"/>
          <a:lstStyle/>
          <a:p>
            <a:pPr indent="0" marL="0">
              <a:buNone/>
            </a:pPr>
            <a:r>
              <a:rPr lang="en-US" sz="2000" b="1" dirty="0">
                <a:solidFill>
                  <a:schemeClr val="accent1"/>
                </a:solidFill>
              </a:rPr>
              <a:t>Ask in this order</a:t>
            </a:r>
            <a:endParaRPr lang="en-US" sz="2000" dirty="0"/>
          </a:p>
        </p:txBody>
      </p:sp>
      <p:sp>
        <p:nvSpPr>
          <p:cNvPr id="9" name="Text 6"/>
          <p:cNvSpPr txBox="1"/>
          <p:nvPr/>
        </p:nvSpPr>
        <p:spPr>
          <a:xfrm>
            <a:off x="5577840" y="2148840"/>
            <a:ext cx="6035040" cy="39319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000" dirty="0">
                <a:solidFill>
                  <a:schemeClr val="bg1"/>
                </a:solidFill>
              </a:rPr>
              <a:t>What are the prerequisites for IS 104 System Analysis &amp; Design?</a:t>
            </a:r>
            <a:endParaRPr lang="en-US" sz="2000" dirty="0"/>
          </a:p>
          <a:p>
            <a:pPr marL="342900" indent="-342900">
              <a:spcAft>
                <a:spcPts val="1200"/>
              </a:spcAft>
              <a:buSzPct val="100000"/>
              <a:buFont typeface="+mj-lt"/>
              <a:buAutoNum type="arabicPeriod" startAt="1"/>
            </a:pPr>
            <a:r>
              <a:rPr lang="en-US" sz="2000" dirty="0">
                <a:solidFill>
                  <a:schemeClr val="bg1"/>
                </a:solidFill>
              </a:rPr>
              <a:t>How many units is it?  (follow-up memory)</a:t>
            </a:r>
            <a:endParaRPr lang="en-US" sz="2000" dirty="0"/>
          </a:p>
          <a:p>
            <a:pPr marL="342900" indent="-342900">
              <a:spcAft>
                <a:spcPts val="1200"/>
              </a:spcAft>
              <a:buSzPct val="100000"/>
              <a:buFont typeface="+mj-lt"/>
              <a:buAutoNum type="arabicPeriod" startAt="1"/>
            </a:pPr>
            <a:r>
              <a:rPr lang="en-US" sz="2000" dirty="0">
                <a:solidFill>
                  <a:schemeClr val="bg1"/>
                </a:solidFill>
              </a:rPr>
              <a:t>What’s the GWA requirement for Latin honors?</a:t>
            </a:r>
            <a:endParaRPr lang="en-US" sz="2000" dirty="0"/>
          </a:p>
          <a:p>
            <a:pPr marL="342900" indent="-342900">
              <a:spcAft>
                <a:spcPts val="1200"/>
              </a:spcAft>
              <a:buSzPct val="100000"/>
              <a:buFont typeface="+mj-lt"/>
              <a:buAutoNum type="arabicPeriod" startAt="1"/>
            </a:pPr>
            <a:r>
              <a:rPr lang="en-US" sz="2000" dirty="0">
                <a:solidFill>
                  <a:schemeClr val="bg1"/>
                </a:solidFill>
              </a:rPr>
              <a:t>Can you write me a haiku about databases?  (refusal)</a:t>
            </a:r>
            <a:endParaRPr lang="en-US" sz="2000" dirty="0"/>
          </a:p>
          <a:p>
            <a:pPr marL="342900" indent="-342900">
              <a:spcAft>
                <a:spcPts val="1200"/>
              </a:spcAft>
              <a:buSzPct val="100000"/>
              <a:buFont typeface="+mj-lt"/>
              <a:buAutoNum type="arabicPeriod" startAt="1"/>
            </a:pPr>
            <a:r>
              <a:rPr lang="en-US" sz="2000" dirty="0">
                <a:solidFill>
                  <a:schemeClr val="bg1"/>
                </a:solidFill>
              </a:rPr>
              <a:t>What subjects are in first year first semester? Then: What about second sem?</a:t>
            </a:r>
            <a:endParaRPr lang="en-US" sz="2000" dirty="0"/>
          </a:p>
          <a:p>
            <a:pPr marL="342900" indent="-342900">
              <a:spcAft>
                <a:spcPts val="1200"/>
              </a:spcAft>
              <a:buSzPct val="100000"/>
              <a:buFont typeface="+mj-lt"/>
              <a:buAutoNum type="arabicPeriod" startAt="1"/>
            </a:pPr>
            <a:r>
              <a:rPr lang="en-US" sz="2000" dirty="0">
                <a:solidFill>
                  <a:schemeClr val="bg1"/>
                </a:solidFill>
              </a:rPr>
              <a:t>What subjects are in fourth year second semester?</a:t>
            </a:r>
            <a:endParaRPr lang="en-US" sz="2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athfinder">
  <a:themeElements>
    <a:clrScheme name="Pathfinder">
      <a:dk1>
        <a:srgbClr val="0F2A3D"/>
      </a:dk1>
      <a:lt1>
        <a:srgbClr val="FFFFFF"/>
      </a:lt1>
      <a:dk2>
        <a:srgbClr val="1F7A8C"/>
      </a:dk2>
      <a:lt2>
        <a:srgbClr val="EAF2F6"/>
      </a:lt2>
      <a:accent1>
        <a:srgbClr val="F2A33A"/>
      </a:accent1>
      <a:accent2>
        <a:srgbClr val="1F7A8C"/>
      </a:accent2>
      <a:accent3>
        <a:srgbClr val="2E5E7E"/>
      </a:accent3>
      <a:accent4>
        <a:srgbClr val="C0392B"/>
      </a:accent4>
      <a:accent5>
        <a:srgbClr val="2E8B57"/>
      </a:accent5>
      <a:accent6>
        <a:srgbClr val="7F98A8"/>
      </a:accent6>
      <a:hlink>
        <a:srgbClr val="1F7A8C"/>
      </a:hlink>
      <a:folHlink>
        <a:srgbClr val="7F98A8"/>
      </a:folHlink>
    </a:clrScheme>
    <a:fontScheme name="Pathfi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Pathfinder: A RAG-based Academic Advisor for Course Planning</dc:title>
  <dc:subject>IS Professional Elective #4 – Final Presentation</dc:subject>
  <dc:creator>PptxGenJS</dc:creator>
  <cp:lastModifiedBy>PptxGenJS</cp:lastModifiedBy>
  <cp:revision>1</cp:revision>
  <dcterms:created xsi:type="dcterms:W3CDTF">2026-10-27T03:27:08Z</dcterms:created>
  <dcterms:modified xsi:type="dcterms:W3CDTF">2026-10-27T03:27:08Z</dcterms:modified>
</cp:coreProperties>
</file>